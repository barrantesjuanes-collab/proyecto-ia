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70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FBA5B0-B3B6-45F4-8AD8-704297B7ADFD}" v="1" dt="2026-05-21T12:10:58.313"/>
    <p1510:client id="{481426FB-A4B9-FC52-7F78-D18834CF093F}" v="3" dt="2026-05-20T19:00:51.336"/>
    <p1510:client id="{A8CE6EA1-6CCE-B5A2-073B-1B607E5E896F}" v="3" dt="2026-05-21T01:01:21.518"/>
    <p1510:client id="{B7387C5D-F90E-1434-1D01-3A5B574B0CB4}" v="266" dt="2026-05-21T01:30:32.019"/>
    <p1510:client id="{F8774C91-1CC3-0460-2C8E-BFCCE29E699F}" v="79" dt="2026-05-21T02:43:06.7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57604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3B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3D5680"/>
          </a:solidFill>
          <a:ln/>
        </p:spPr>
        <p:txBody>
          <a:bodyPr/>
          <a:lstStyle/>
          <a:p>
            <a:endParaRPr lang="es-US"/>
          </a:p>
        </p:txBody>
      </p:sp>
      <p:sp>
        <p:nvSpPr>
          <p:cNvPr id="3" name="Shape 1"/>
          <p:cNvSpPr/>
          <p:nvPr/>
        </p:nvSpPr>
        <p:spPr>
          <a:xfrm>
            <a:off x="9144000" y="3657600"/>
            <a:ext cx="6400800" cy="6400800"/>
          </a:xfrm>
          <a:prstGeom prst="ellipse">
            <a:avLst/>
          </a:prstGeom>
          <a:solidFill>
            <a:srgbClr val="EAE0D0">
              <a:alpha val="15000"/>
            </a:srgbClr>
          </a:solidFill>
          <a:ln/>
        </p:spPr>
        <p:txBody>
          <a:bodyPr/>
          <a:lstStyle/>
          <a:p>
            <a:endParaRPr lang="es-US"/>
          </a:p>
        </p:txBody>
      </p:sp>
      <p:sp>
        <p:nvSpPr>
          <p:cNvPr id="4" name="Shape 2"/>
          <p:cNvSpPr/>
          <p:nvPr/>
        </p:nvSpPr>
        <p:spPr>
          <a:xfrm>
            <a:off x="-914400" y="5029200"/>
            <a:ext cx="3200400" cy="3200400"/>
          </a:xfrm>
          <a:prstGeom prst="ellipse">
            <a:avLst/>
          </a:prstGeom>
          <a:solidFill>
            <a:srgbClr val="C0995A">
              <a:alpha val="30000"/>
            </a:srgbClr>
          </a:solidFill>
          <a:ln/>
        </p:spPr>
        <p:txBody>
          <a:bodyPr/>
          <a:lstStyle/>
          <a:p>
            <a:endParaRPr lang="es-US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10332720" cy="1645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3200" b="1" kern="0" spc="200">
                <a:solidFill>
                  <a:srgbClr val="FFFFFF"/>
                </a:solidFill>
                <a:latin typeface="Georgia"/>
                <a:ea typeface="Georgia" pitchFamily="34" charset="-122"/>
                <a:cs typeface="Georgia" pitchFamily="34" charset="-120"/>
              </a:rPr>
              <a:t>DETERMINANTES ESTRUCTURALES DE LA FATALIDAD EN ACCIDENTES DE TRÁNSITO CON VÍCTIMAS EN COLOMBIA</a:t>
            </a:r>
            <a:endParaRPr lang="en-US" sz="3200">
              <a:latin typeface="Georgia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400" y="34747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>
                <a:solidFill>
                  <a:srgbClr val="EAE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enfoque econométrico y de aprendizaje automático</a:t>
            </a:r>
            <a:endParaRPr lang="en-US" sz="1800"/>
          </a:p>
        </p:txBody>
      </p:sp>
      <p:sp>
        <p:nvSpPr>
          <p:cNvPr id="7" name="Shape 5"/>
          <p:cNvSpPr/>
          <p:nvPr/>
        </p:nvSpPr>
        <p:spPr>
          <a:xfrm>
            <a:off x="5166360" y="4297680"/>
            <a:ext cx="1828800" cy="0"/>
          </a:xfrm>
          <a:prstGeom prst="line">
            <a:avLst/>
          </a:prstGeom>
          <a:noFill/>
          <a:ln w="25400">
            <a:solidFill>
              <a:srgbClr val="C0995A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8" name="Text 6"/>
          <p:cNvSpPr/>
          <p:nvPr/>
        </p:nvSpPr>
        <p:spPr>
          <a:xfrm>
            <a:off x="914400" y="457200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Juan Esteban Barrantes Riaño</a:t>
            </a:r>
            <a:endParaRPr lang="en-US" sz="1800"/>
          </a:p>
          <a:p>
            <a:pPr marL="0" indent="0" algn="ctr"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Juan Camilo Ordoñez</a:t>
            </a:r>
            <a:endParaRPr lang="en-US" sz="1800"/>
          </a:p>
          <a:p>
            <a:pPr marL="0" indent="0" algn="ctr"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Miguel Andrés Rodríguez Quintero</a:t>
            </a:r>
            <a:endParaRPr lang="en-US" sz="1800"/>
          </a:p>
        </p:txBody>
      </p:sp>
      <p:sp>
        <p:nvSpPr>
          <p:cNvPr id="9" name="Text 7"/>
          <p:cNvSpPr/>
          <p:nvPr/>
        </p:nvSpPr>
        <p:spPr>
          <a:xfrm>
            <a:off x="914400" y="594360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>
                <a:solidFill>
                  <a:srgbClr val="EAE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Externado de Colombia · 2026</a:t>
            </a:r>
            <a:endParaRPr lang="en-US"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>
                <a:solidFill>
                  <a:srgbClr val="C09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40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243B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seguridad vial: una pérdida económica que sí podemos predecir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3520440" cy="20116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s-US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73152" cy="2011680"/>
          </a:xfrm>
          <a:prstGeom prst="rect">
            <a:avLst/>
          </a:prstGeom>
          <a:solidFill>
            <a:srgbClr val="C0995A"/>
          </a:solidFill>
          <a:ln/>
        </p:spPr>
        <p:txBody>
          <a:bodyPr/>
          <a:lstStyle/>
          <a:p>
            <a:endParaRPr lang="es-US"/>
          </a:p>
        </p:txBody>
      </p:sp>
      <p:sp>
        <p:nvSpPr>
          <p:cNvPr id="6" name="Text 4"/>
          <p:cNvSpPr/>
          <p:nvPr/>
        </p:nvSpPr>
        <p:spPr>
          <a:xfrm>
            <a:off x="777240" y="242316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>
                <a:solidFill>
                  <a:srgbClr val="243B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+6.000</a:t>
            </a:r>
            <a:endParaRPr lang="en-US" sz="4400"/>
          </a:p>
        </p:txBody>
      </p:sp>
      <p:sp>
        <p:nvSpPr>
          <p:cNvPr id="7" name="Text 5"/>
          <p:cNvSpPr/>
          <p:nvPr/>
        </p:nvSpPr>
        <p:spPr>
          <a:xfrm>
            <a:off x="777240" y="3246120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muertes anuales en accidentes de tránsito en Colombia (ANSV, 2018–2022)</a:t>
            </a:r>
            <a:endParaRPr lang="en-US" sz="1200"/>
          </a:p>
        </p:txBody>
      </p:sp>
      <p:sp>
        <p:nvSpPr>
          <p:cNvPr id="8" name="Shape 6"/>
          <p:cNvSpPr/>
          <p:nvPr/>
        </p:nvSpPr>
        <p:spPr>
          <a:xfrm>
            <a:off x="4297680" y="2194560"/>
            <a:ext cx="3520440" cy="20116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s-US"/>
          </a:p>
        </p:txBody>
      </p:sp>
      <p:sp>
        <p:nvSpPr>
          <p:cNvPr id="9" name="Shape 7"/>
          <p:cNvSpPr/>
          <p:nvPr/>
        </p:nvSpPr>
        <p:spPr>
          <a:xfrm>
            <a:off x="4297680" y="2194560"/>
            <a:ext cx="73152" cy="2011680"/>
          </a:xfrm>
          <a:prstGeom prst="rect">
            <a:avLst/>
          </a:prstGeom>
          <a:solidFill>
            <a:srgbClr val="C0995A"/>
          </a:solidFill>
          <a:ln/>
        </p:spPr>
        <p:txBody>
          <a:bodyPr/>
          <a:lstStyle/>
          <a:p>
            <a:endParaRPr lang="es-US"/>
          </a:p>
        </p:txBody>
      </p:sp>
      <p:sp>
        <p:nvSpPr>
          <p:cNvPr id="10" name="Text 8"/>
          <p:cNvSpPr/>
          <p:nvPr/>
        </p:nvSpPr>
        <p:spPr>
          <a:xfrm>
            <a:off x="4526280" y="242316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>
                <a:solidFill>
                  <a:srgbClr val="243B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5,05%</a:t>
            </a:r>
            <a:endParaRPr lang="en-US" sz="4400"/>
          </a:p>
        </p:txBody>
      </p:sp>
      <p:sp>
        <p:nvSpPr>
          <p:cNvPr id="11" name="Text 9"/>
          <p:cNvSpPr/>
          <p:nvPr/>
        </p:nvSpPr>
        <p:spPr>
          <a:xfrm>
            <a:off x="4526280" y="3246120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accidentes con víctimas terminan en muerte: 1 de cada 20</a:t>
            </a:r>
            <a:endParaRPr lang="en-US" sz="1200"/>
          </a:p>
        </p:txBody>
      </p:sp>
      <p:sp>
        <p:nvSpPr>
          <p:cNvPr id="12" name="Shape 10"/>
          <p:cNvSpPr/>
          <p:nvPr/>
        </p:nvSpPr>
        <p:spPr>
          <a:xfrm>
            <a:off x="8046720" y="2194560"/>
            <a:ext cx="3520440" cy="20116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s-US"/>
          </a:p>
        </p:txBody>
      </p:sp>
      <p:sp>
        <p:nvSpPr>
          <p:cNvPr id="13" name="Shape 11"/>
          <p:cNvSpPr/>
          <p:nvPr/>
        </p:nvSpPr>
        <p:spPr>
          <a:xfrm>
            <a:off x="8046720" y="2194560"/>
            <a:ext cx="73152" cy="2011680"/>
          </a:xfrm>
          <a:prstGeom prst="rect">
            <a:avLst/>
          </a:prstGeom>
          <a:solidFill>
            <a:srgbClr val="C0995A"/>
          </a:solidFill>
          <a:ln/>
        </p:spPr>
        <p:txBody>
          <a:bodyPr/>
          <a:lstStyle/>
          <a:p>
            <a:endParaRPr lang="es-US"/>
          </a:p>
        </p:txBody>
      </p:sp>
      <p:sp>
        <p:nvSpPr>
          <p:cNvPr id="14" name="Text 12"/>
          <p:cNvSpPr/>
          <p:nvPr/>
        </p:nvSpPr>
        <p:spPr>
          <a:xfrm>
            <a:off x="8275320" y="242316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>
                <a:solidFill>
                  <a:srgbClr val="243B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405.387</a:t>
            </a:r>
            <a:endParaRPr lang="en-US" sz="4400"/>
          </a:p>
        </p:txBody>
      </p:sp>
      <p:sp>
        <p:nvSpPr>
          <p:cNvPr id="15" name="Text 13"/>
          <p:cNvSpPr/>
          <p:nvPr/>
        </p:nvSpPr>
        <p:spPr>
          <a:xfrm>
            <a:off x="8275320" y="3246120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vehiculares analizados bajo la Ley 2251 de 2022</a:t>
            </a:r>
            <a:endParaRPr lang="en-US" sz="1200"/>
          </a:p>
        </p:txBody>
      </p:sp>
      <p:sp>
        <p:nvSpPr>
          <p:cNvPr id="16" name="Text 14"/>
          <p:cNvSpPr/>
          <p:nvPr/>
        </p:nvSpPr>
        <p:spPr>
          <a:xfrm>
            <a:off x="548640" y="45720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i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accidente fatal genera costos económicos, sociales y fiscales: pérdida de años productivos, atención médica de urgencias, infraestructura dañada y carga sobre el sistema público de salud.</a:t>
            </a:r>
            <a:endParaRPr lang="en-US" sz="1600"/>
          </a:p>
        </p:txBody>
      </p:sp>
      <p:sp>
        <p:nvSpPr>
          <p:cNvPr id="17" name="Text 15"/>
          <p:cNvSpPr/>
          <p:nvPr/>
        </p:nvSpPr>
        <p:spPr>
          <a:xfrm>
            <a:off x="548640" y="55778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243B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Pregunta: ¿qué factores estructurales pueden ayudarnos a anticipar la fatalidad antes de que ocurra?</a:t>
            </a:r>
            <a:endParaRPr lang="en-US" sz="1700"/>
          </a:p>
        </p:txBody>
      </p:sp>
      <p:sp>
        <p:nvSpPr>
          <p:cNvPr id="18" name="Text 16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90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Determinantes de fatalidad vial · IA con Aplicaciones en Economía I</a:t>
            </a:r>
            <a:endParaRPr lang="en-US" sz="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>
                <a:solidFill>
                  <a:srgbClr val="C09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E HIPÓTESIS</a:t>
            </a:r>
            <a:endParaRPr lang="en-US" sz="140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10972800" cy="1371600"/>
          </a:xfrm>
          <a:prstGeom prst="rect">
            <a:avLst/>
          </a:prstGeom>
          <a:solidFill>
            <a:srgbClr val="243B5E"/>
          </a:solidFill>
          <a:ln/>
        </p:spPr>
        <p:txBody>
          <a:bodyPr/>
          <a:lstStyle/>
          <a:p>
            <a:endParaRPr lang="es-US"/>
          </a:p>
        </p:txBody>
      </p:sp>
      <p:sp>
        <p:nvSpPr>
          <p:cNvPr id="4" name="Text 2"/>
          <p:cNvSpPr/>
          <p:nvPr/>
        </p:nvSpPr>
        <p:spPr>
          <a:xfrm>
            <a:off x="822960" y="1234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C09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de investigación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822960" y="16002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¿Qué factores vehiculares y territoriales aumentan la probabilidad de que un accidente de tránsito con víctimas en Colombia termine en muerte?</a:t>
            </a:r>
            <a:endParaRPr lang="en-US" sz="180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243B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Hipótesis principales</a:t>
            </a:r>
            <a:endParaRPr lang="en-US" sz="1800"/>
          </a:p>
        </p:txBody>
      </p:sp>
      <p:sp>
        <p:nvSpPr>
          <p:cNvPr id="7" name="Text 5"/>
          <p:cNvSpPr/>
          <p:nvPr/>
        </p:nvSpPr>
        <p:spPr>
          <a:xfrm>
            <a:off x="548640" y="338328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>
                <a:solidFill>
                  <a:srgbClr val="C099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800"/>
          </a:p>
        </p:txBody>
      </p:sp>
      <p:sp>
        <p:nvSpPr>
          <p:cNvPr id="8" name="Text 6"/>
          <p:cNvSpPr/>
          <p:nvPr/>
        </p:nvSpPr>
        <p:spPr>
          <a:xfrm>
            <a:off x="1828800" y="34290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243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vehículo</a:t>
            </a:r>
            <a:endParaRPr lang="en-US" sz="1500"/>
          </a:p>
        </p:txBody>
      </p:sp>
      <p:sp>
        <p:nvSpPr>
          <p:cNvPr id="9" name="Text 7"/>
          <p:cNvSpPr/>
          <p:nvPr/>
        </p:nvSpPr>
        <p:spPr>
          <a:xfrm>
            <a:off x="1828800" y="379476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tipo de vehículo tendrá el mayor peso predictivo: las motocicletas, al ofrecer menor protección, deberían concentrar mayor fatalidad.</a:t>
            </a:r>
            <a:endParaRPr lang="en-US" sz="1300"/>
          </a:p>
        </p:txBody>
      </p:sp>
      <p:sp>
        <p:nvSpPr>
          <p:cNvPr id="10" name="Text 8"/>
          <p:cNvSpPr/>
          <p:nvPr/>
        </p:nvSpPr>
        <p:spPr>
          <a:xfrm>
            <a:off x="548640" y="434340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>
                <a:solidFill>
                  <a:srgbClr val="C099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800"/>
          </a:p>
        </p:txBody>
      </p:sp>
      <p:sp>
        <p:nvSpPr>
          <p:cNvPr id="11" name="Text 9"/>
          <p:cNvSpPr/>
          <p:nvPr/>
        </p:nvSpPr>
        <p:spPr>
          <a:xfrm>
            <a:off x="1828800" y="43891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243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Antigüedad</a:t>
            </a:r>
            <a:endParaRPr lang="en-US" sz="1500"/>
          </a:p>
        </p:txBody>
      </p:sp>
      <p:sp>
        <p:nvSpPr>
          <p:cNvPr id="12" name="Text 10"/>
          <p:cNvSpPr/>
          <p:nvPr/>
        </p:nvSpPr>
        <p:spPr>
          <a:xfrm>
            <a:off x="1828800" y="475488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Vehículos más antiguos presentarán mayor fatalidad por menor seguridad pasiva (airbags, ABS) y mantenimiento más precario.</a:t>
            </a:r>
            <a:endParaRPr lang="en-US" sz="1300"/>
          </a:p>
        </p:txBody>
      </p:sp>
      <p:sp>
        <p:nvSpPr>
          <p:cNvPr id="13" name="Text 11"/>
          <p:cNvSpPr/>
          <p:nvPr/>
        </p:nvSpPr>
        <p:spPr>
          <a:xfrm>
            <a:off x="548640" y="530352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>
                <a:solidFill>
                  <a:srgbClr val="C099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800"/>
          </a:p>
        </p:txBody>
      </p:sp>
      <p:sp>
        <p:nvSpPr>
          <p:cNvPr id="14" name="Text 12"/>
          <p:cNvSpPr/>
          <p:nvPr/>
        </p:nvSpPr>
        <p:spPr>
          <a:xfrm>
            <a:off x="1828800" y="53492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243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Diferencias territoriales</a:t>
            </a:r>
            <a:endParaRPr lang="en-US" sz="1500"/>
          </a:p>
        </p:txBody>
      </p:sp>
      <p:sp>
        <p:nvSpPr>
          <p:cNvPr id="15" name="Text 13"/>
          <p:cNvSpPr/>
          <p:nvPr/>
        </p:nvSpPr>
        <p:spPr>
          <a:xfrm>
            <a:off x="1828800" y="571500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Departamentos con menor infraestructura vial e institucional registrarán tasas de fatalidad más altas.</a:t>
            </a:r>
            <a:endParaRPr lang="en-US" sz="1300"/>
          </a:p>
        </p:txBody>
      </p:sp>
      <p:sp>
        <p:nvSpPr>
          <p:cNvPr id="16" name="Text 14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90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Determinantes de fatalidad vial · IA con Aplicaciones en Economía I</a:t>
            </a:r>
            <a:endParaRPr lang="en-US"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>
                <a:solidFill>
                  <a:srgbClr val="C09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HALLAZGO</a:t>
            </a:r>
            <a:endParaRPr lang="en-US" sz="140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243B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fatalidad es rara, pero costosa</a:t>
            </a:r>
            <a:endParaRPr lang="en-US" sz="2800"/>
          </a:p>
        </p:txBody>
      </p:sp>
      <p:pic>
        <p:nvPicPr>
          <p:cNvPr id="4" name="Image 0" descr="/home/claude/slides_assets/c22_distribucio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645920"/>
            <a:ext cx="5943600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858000" y="1645920"/>
            <a:ext cx="4754880" cy="4114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s-US"/>
          </a:p>
        </p:txBody>
      </p:sp>
      <p:sp>
        <p:nvSpPr>
          <p:cNvPr id="6" name="Text 3"/>
          <p:cNvSpPr/>
          <p:nvPr/>
        </p:nvSpPr>
        <p:spPr>
          <a:xfrm>
            <a:off x="7132320" y="18288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C09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de la variable objetivo</a:t>
            </a:r>
            <a:endParaRPr lang="en-US" sz="1200"/>
          </a:p>
        </p:txBody>
      </p:sp>
      <p:sp>
        <p:nvSpPr>
          <p:cNvPr id="7" name="Text 4"/>
          <p:cNvSpPr/>
          <p:nvPr/>
        </p:nvSpPr>
        <p:spPr>
          <a:xfrm>
            <a:off x="7132320" y="228600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243B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384.934</a:t>
            </a:r>
            <a:endParaRPr lang="en-US" sz="3200"/>
          </a:p>
        </p:txBody>
      </p:sp>
      <p:sp>
        <p:nvSpPr>
          <p:cNvPr id="8" name="Text 5"/>
          <p:cNvSpPr/>
          <p:nvPr/>
        </p:nvSpPr>
        <p:spPr>
          <a:xfrm>
            <a:off x="7132320" y="29260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accidentes con heridos (94,95%)</a:t>
            </a:r>
            <a:endParaRPr lang="en-US" sz="1200"/>
          </a:p>
        </p:txBody>
      </p:sp>
      <p:sp>
        <p:nvSpPr>
          <p:cNvPr id="9" name="Text 6"/>
          <p:cNvSpPr/>
          <p:nvPr/>
        </p:nvSpPr>
        <p:spPr>
          <a:xfrm>
            <a:off x="7132320" y="342900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B23A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20.453</a:t>
            </a:r>
            <a:endParaRPr lang="en-US" sz="3200"/>
          </a:p>
        </p:txBody>
      </p:sp>
      <p:sp>
        <p:nvSpPr>
          <p:cNvPr id="10" name="Text 7"/>
          <p:cNvSpPr/>
          <p:nvPr/>
        </p:nvSpPr>
        <p:spPr>
          <a:xfrm>
            <a:off x="7132320" y="40690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accidentes con muertos (5,05%)</a:t>
            </a:r>
            <a:endParaRPr lang="en-US" sz="1200"/>
          </a:p>
        </p:txBody>
      </p:sp>
      <p:sp>
        <p:nvSpPr>
          <p:cNvPr id="11" name="Shape 8"/>
          <p:cNvSpPr/>
          <p:nvPr/>
        </p:nvSpPr>
        <p:spPr>
          <a:xfrm>
            <a:off x="7132320" y="4572000"/>
            <a:ext cx="4023360" cy="0"/>
          </a:xfrm>
          <a:prstGeom prst="line">
            <a:avLst/>
          </a:prstGeom>
          <a:noFill/>
          <a:ln w="19050">
            <a:solidFill>
              <a:srgbClr val="C0995A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12" name="Text 9"/>
          <p:cNvSpPr/>
          <p:nvPr/>
        </p:nvSpPr>
        <p:spPr>
          <a:xfrm>
            <a:off x="7132320" y="470916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243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Implicación metodológica:</a:t>
            </a:r>
            <a:endParaRPr lang="en-US" sz="1200"/>
          </a:p>
        </p:txBody>
      </p:sp>
      <p:sp>
        <p:nvSpPr>
          <p:cNvPr id="13" name="Text 10"/>
          <p:cNvSpPr/>
          <p:nvPr/>
        </p:nvSpPr>
        <p:spPr>
          <a:xfrm>
            <a:off x="7132320" y="502920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i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modelo que prediga siempre 'no fatal' obtendría 95% de accuracy. Por eso fue necesario balancear las clases.</a:t>
            </a:r>
            <a:endParaRPr lang="en-US" sz="1100"/>
          </a:p>
        </p:txBody>
      </p:sp>
      <p:sp>
        <p:nvSpPr>
          <p:cNvPr id="14" name="Text 11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900"/>
          </a:p>
        </p:txBody>
      </p:sp>
      <p:sp>
        <p:nvSpPr>
          <p:cNvPr id="15" name="Text 12"/>
          <p:cNvSpPr/>
          <p:nvPr/>
        </p:nvSpPr>
        <p:spPr>
          <a:xfrm>
            <a:off x="457200" y="6537960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Determinantes de fatalidad vial · IA con Aplicaciones en Economía I</a:t>
            </a:r>
            <a:endParaRPr lang="en-US" sz="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>
                <a:solidFill>
                  <a:srgbClr val="C09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UNIVARIADO</a:t>
            </a:r>
            <a:endParaRPr lang="en-US" sz="140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243B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Las motos dominan la siniestralidad</a:t>
            </a:r>
            <a:endParaRPr lang="en-US" sz="2800"/>
          </a:p>
        </p:txBody>
      </p:sp>
      <p:pic>
        <p:nvPicPr>
          <p:cNvPr id="4" name="Image 0" descr="/home/claude/slides_assets/c24_tipo_vehicul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645920"/>
            <a:ext cx="7772400" cy="4114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17373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243B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229.150</a:t>
            </a:r>
            <a:endParaRPr lang="en-US" sz="3400"/>
          </a:p>
        </p:txBody>
      </p:sp>
      <p:sp>
        <p:nvSpPr>
          <p:cNvPr id="6" name="Text 3"/>
          <p:cNvSpPr/>
          <p:nvPr/>
        </p:nvSpPr>
        <p:spPr>
          <a:xfrm>
            <a:off x="8503920" y="2423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siniestros con motocicletas</a:t>
            </a:r>
            <a:endParaRPr lang="en-US" sz="1200"/>
          </a:p>
        </p:txBody>
      </p:sp>
      <p:sp>
        <p:nvSpPr>
          <p:cNvPr id="7" name="Shape 4"/>
          <p:cNvSpPr/>
          <p:nvPr/>
        </p:nvSpPr>
        <p:spPr>
          <a:xfrm>
            <a:off x="8503920" y="2880360"/>
            <a:ext cx="1371600" cy="0"/>
          </a:xfrm>
          <a:prstGeom prst="line">
            <a:avLst/>
          </a:prstGeom>
          <a:noFill/>
          <a:ln w="25400">
            <a:solidFill>
              <a:srgbClr val="C0995A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8" name="Text 5"/>
          <p:cNvSpPr/>
          <p:nvPr/>
        </p:nvSpPr>
        <p:spPr>
          <a:xfrm>
            <a:off x="8503920" y="306324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Motos + automóviles + camionetas concentran </a:t>
            </a:r>
            <a:r>
              <a:rPr lang="en-US" sz="1200" b="1">
                <a:solidFill>
                  <a:srgbClr val="243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del 87%</a:t>
            </a:r>
            <a:r>
              <a:rPr lang="en-US" sz="12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total de accidentes con víctimas.</a:t>
            </a:r>
            <a:endParaRPr lang="en-US" sz="1200"/>
          </a:p>
        </p:txBody>
      </p:sp>
      <p:sp>
        <p:nvSpPr>
          <p:cNvPr id="9" name="Text 6"/>
          <p:cNvSpPr/>
          <p:nvPr/>
        </p:nvSpPr>
        <p:spPr>
          <a:xfrm>
            <a:off x="8503920" y="457200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i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Refleja la composición del parque automotor colombiano y la alta exposición de los actores viales más vulnerables.</a:t>
            </a:r>
            <a:endParaRPr lang="en-US" sz="1100"/>
          </a:p>
        </p:txBody>
      </p:sp>
      <p:sp>
        <p:nvSpPr>
          <p:cNvPr id="10" name="Text 7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900"/>
          </a:p>
        </p:txBody>
      </p:sp>
      <p:sp>
        <p:nvSpPr>
          <p:cNvPr id="11" name="Text 8"/>
          <p:cNvSpPr/>
          <p:nvPr/>
        </p:nvSpPr>
        <p:spPr>
          <a:xfrm>
            <a:off x="457200" y="6537960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Determinantes de fatalidad vial · IA con Aplicaciones en Economía I</a:t>
            </a:r>
            <a:endParaRPr lang="en-US" sz="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endParaRPr lang="en-US" sz="1400" b="1" kern="0" spc="400">
              <a:solidFill>
                <a:srgbClr val="C0995A"/>
              </a:solidFill>
              <a:ea typeface="Calibri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2800" b="1" err="1">
                <a:solidFill>
                  <a:srgbClr val="243B5E"/>
                </a:solidFill>
                <a:latin typeface="Georgia"/>
              </a:rPr>
              <a:t>Accidentalidad</a:t>
            </a:r>
            <a:r>
              <a:rPr lang="en-US" sz="2800" b="1">
                <a:solidFill>
                  <a:srgbClr val="243B5E"/>
                </a:solidFill>
                <a:latin typeface="Georgia"/>
              </a:rPr>
              <a:t> </a:t>
            </a:r>
            <a:r>
              <a:rPr lang="en-US" sz="2800" b="1" err="1">
                <a:solidFill>
                  <a:srgbClr val="243B5E"/>
                </a:solidFill>
                <a:latin typeface="Georgia"/>
              </a:rPr>
              <a:t>por</a:t>
            </a:r>
            <a:r>
              <a:rPr lang="en-US" sz="2800" b="1">
                <a:solidFill>
                  <a:srgbClr val="243B5E"/>
                </a:solidFill>
                <a:latin typeface="Georgia"/>
              </a:rPr>
              <a:t> </a:t>
            </a:r>
            <a:r>
              <a:rPr lang="en-US" sz="2800" b="1" err="1">
                <a:solidFill>
                  <a:srgbClr val="243B5E"/>
                </a:solidFill>
                <a:latin typeface="Georgia"/>
              </a:rPr>
              <a:t>temporalidad</a:t>
            </a:r>
          </a:p>
        </p:txBody>
      </p:sp>
      <p:sp>
        <p:nvSpPr>
          <p:cNvPr id="5" name="Shape 2"/>
          <p:cNvSpPr/>
          <p:nvPr/>
        </p:nvSpPr>
        <p:spPr>
          <a:xfrm>
            <a:off x="7406640" y="1691640"/>
            <a:ext cx="4297680" cy="4389120"/>
          </a:xfrm>
          <a:prstGeom prst="rect">
            <a:avLst/>
          </a:prstGeom>
          <a:solidFill>
            <a:srgbClr val="243B5E"/>
          </a:solidFill>
          <a:ln/>
        </p:spPr>
        <p:txBody>
          <a:bodyPr/>
          <a:lstStyle/>
          <a:p>
            <a:endParaRPr lang="es-US"/>
          </a:p>
        </p:txBody>
      </p:sp>
      <p:sp>
        <p:nvSpPr>
          <p:cNvPr id="6" name="Text 3"/>
          <p:cNvSpPr/>
          <p:nvPr/>
        </p:nvSpPr>
        <p:spPr>
          <a:xfrm>
            <a:off x="7635240" y="1874520"/>
            <a:ext cx="393192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endParaRPr lang="en-US" sz="1100" b="1" kern="0" spc="200">
              <a:solidFill>
                <a:srgbClr val="C0995A"/>
              </a:solidFill>
              <a:ea typeface="Calibri"/>
              <a:cs typeface="Calibri"/>
            </a:endParaRPr>
          </a:p>
        </p:txBody>
      </p:sp>
      <p:sp>
        <p:nvSpPr>
          <p:cNvPr id="7" name="Text 4"/>
          <p:cNvSpPr/>
          <p:nvPr/>
        </p:nvSpPr>
        <p:spPr>
          <a:xfrm>
            <a:off x="7635240" y="2331720"/>
            <a:ext cx="393192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EAE0D0"/>
                </a:solidFill>
                <a:latin typeface="Calibri"/>
                <a:ea typeface="Calibri"/>
                <a:cs typeface="Calibri"/>
              </a:rPr>
              <a:t>Julio</a:t>
            </a:r>
            <a:endParaRPr lang="en-US" sz="1400"/>
          </a:p>
        </p:txBody>
      </p:sp>
      <p:sp>
        <p:nvSpPr>
          <p:cNvPr id="8" name="Text 5"/>
          <p:cNvSpPr/>
          <p:nvPr/>
        </p:nvSpPr>
        <p:spPr>
          <a:xfrm>
            <a:off x="7635240" y="2697480"/>
            <a:ext cx="393192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300">
                <a:solidFill>
                  <a:srgbClr val="FFFFFF"/>
                </a:solidFill>
                <a:latin typeface="Georgia"/>
              </a:rPr>
              <a:t>Mayor </a:t>
            </a:r>
            <a:r>
              <a:rPr lang="en-US" sz="1300" err="1">
                <a:solidFill>
                  <a:srgbClr val="FFFFFF"/>
                </a:solidFill>
                <a:latin typeface="Georgia"/>
              </a:rPr>
              <a:t>registro</a:t>
            </a:r>
            <a:r>
              <a:rPr lang="en-US" sz="1300">
                <a:solidFill>
                  <a:srgbClr val="FFFFFF"/>
                </a:solidFill>
                <a:latin typeface="Georgia"/>
              </a:rPr>
              <a:t> de </a:t>
            </a:r>
            <a:r>
              <a:rPr lang="en-US" sz="1300" err="1">
                <a:solidFill>
                  <a:srgbClr val="FFFFFF"/>
                </a:solidFill>
                <a:latin typeface="Georgia"/>
              </a:rPr>
              <a:t>accidentes</a:t>
            </a:r>
          </a:p>
        </p:txBody>
      </p:sp>
      <p:sp>
        <p:nvSpPr>
          <p:cNvPr id="9" name="Shape 6"/>
          <p:cNvSpPr/>
          <p:nvPr/>
        </p:nvSpPr>
        <p:spPr>
          <a:xfrm>
            <a:off x="7635240" y="3200400"/>
            <a:ext cx="3749040" cy="0"/>
          </a:xfrm>
          <a:prstGeom prst="line">
            <a:avLst/>
          </a:prstGeom>
          <a:noFill/>
          <a:ln w="12700">
            <a:solidFill>
              <a:srgbClr val="C0995A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10" name="Text 7"/>
          <p:cNvSpPr/>
          <p:nvPr/>
        </p:nvSpPr>
        <p:spPr>
          <a:xfrm>
            <a:off x="7635240" y="3383280"/>
            <a:ext cx="393192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EAE0D0"/>
                </a:solidFill>
                <a:latin typeface="Calibri"/>
                <a:ea typeface="Calibri"/>
                <a:cs typeface="Calibri"/>
              </a:rPr>
              <a:t>Vacaciones</a:t>
            </a:r>
            <a:endParaRPr lang="en-US" sz="1400"/>
          </a:p>
        </p:txBody>
      </p:sp>
      <p:sp>
        <p:nvSpPr>
          <p:cNvPr id="11" name="Text 8"/>
          <p:cNvSpPr/>
          <p:nvPr/>
        </p:nvSpPr>
        <p:spPr>
          <a:xfrm>
            <a:off x="7635240" y="3749040"/>
            <a:ext cx="393192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endParaRPr lang="en-US" sz="1300">
              <a:solidFill>
                <a:srgbClr val="FFFFFF"/>
              </a:solidFill>
              <a:latin typeface="Georgia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7635240" y="4251960"/>
            <a:ext cx="3749040" cy="0"/>
          </a:xfrm>
          <a:prstGeom prst="line">
            <a:avLst/>
          </a:prstGeom>
          <a:noFill/>
          <a:ln w="12700">
            <a:solidFill>
              <a:srgbClr val="C0995A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13" name="Text 10"/>
          <p:cNvSpPr/>
          <p:nvPr/>
        </p:nvSpPr>
        <p:spPr>
          <a:xfrm>
            <a:off x="7635240" y="4434840"/>
            <a:ext cx="3931920" cy="1463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endParaRPr lang="es-ES"/>
          </a:p>
        </p:txBody>
      </p:sp>
      <p:sp>
        <p:nvSpPr>
          <p:cNvPr id="14" name="Text 11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900"/>
          </a:p>
        </p:txBody>
      </p:sp>
      <p:sp>
        <p:nvSpPr>
          <p:cNvPr id="15" name="Text 12"/>
          <p:cNvSpPr/>
          <p:nvPr/>
        </p:nvSpPr>
        <p:spPr>
          <a:xfrm>
            <a:off x="457200" y="6537960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Determinantes de fatalidad vial · IA con Aplicaciones en Economía I</a:t>
            </a:r>
            <a:endParaRPr lang="en-US" sz="900"/>
          </a:p>
        </p:txBody>
      </p:sp>
      <p:pic>
        <p:nvPicPr>
          <p:cNvPr id="16" name="Imagen 15" descr="Gráfico, Gráfico de barras&#10;&#10;El contenido generado por IA puede ser incorrecto.">
            <a:extLst>
              <a:ext uri="{FF2B5EF4-FFF2-40B4-BE49-F238E27FC236}">
                <a16:creationId xmlns:a16="http://schemas.microsoft.com/office/drawing/2014/main" id="{CAFF0088-8A51-409C-BE2C-2175DEAF95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851" y="1369935"/>
            <a:ext cx="6930083" cy="2836111"/>
          </a:xfrm>
          <a:prstGeom prst="rect">
            <a:avLst/>
          </a:prstGeom>
        </p:spPr>
      </p:pic>
      <p:sp>
        <p:nvSpPr>
          <p:cNvPr id="17" name="Text 7">
            <a:extLst>
              <a:ext uri="{FF2B5EF4-FFF2-40B4-BE49-F238E27FC236}">
                <a16:creationId xmlns:a16="http://schemas.microsoft.com/office/drawing/2014/main" id="{FE78790B-143E-2793-C929-9ACB5013E702}"/>
              </a:ext>
            </a:extLst>
          </p:cNvPr>
          <p:cNvSpPr/>
          <p:nvPr/>
        </p:nvSpPr>
        <p:spPr>
          <a:xfrm>
            <a:off x="7635240" y="4804307"/>
            <a:ext cx="393192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400" b="1">
                <a:solidFill>
                  <a:srgbClr val="EAE0D0"/>
                </a:solidFill>
                <a:ea typeface="Calibri"/>
                <a:cs typeface="Calibri"/>
              </a:rPr>
              <a:t>2024 </a:t>
            </a:r>
            <a:r>
              <a:rPr lang="en-US" sz="1400" b="1" err="1">
                <a:solidFill>
                  <a:srgbClr val="EAE0D0"/>
                </a:solidFill>
                <a:ea typeface="Calibri"/>
                <a:cs typeface="Calibri"/>
              </a:rPr>
              <a:t>año</a:t>
            </a:r>
            <a:r>
              <a:rPr lang="en-US" sz="1400" b="1">
                <a:solidFill>
                  <a:srgbClr val="EAE0D0"/>
                </a:solidFill>
                <a:ea typeface="Calibri"/>
                <a:cs typeface="Calibri"/>
              </a:rPr>
              <a:t> de </a:t>
            </a:r>
            <a:r>
              <a:rPr lang="en-US" sz="1400" b="1" err="1">
                <a:solidFill>
                  <a:srgbClr val="EAE0D0"/>
                </a:solidFill>
                <a:ea typeface="Calibri"/>
                <a:cs typeface="Calibri"/>
              </a:rPr>
              <a:t>mayores</a:t>
            </a:r>
            <a:r>
              <a:rPr lang="en-US" sz="1400" b="1">
                <a:solidFill>
                  <a:srgbClr val="EAE0D0"/>
                </a:solidFill>
                <a:ea typeface="Calibri"/>
                <a:cs typeface="Calibri"/>
              </a:rPr>
              <a:t> </a:t>
            </a:r>
            <a:r>
              <a:rPr lang="en-US" sz="1400" b="1" err="1">
                <a:solidFill>
                  <a:srgbClr val="EAE0D0"/>
                </a:solidFill>
                <a:ea typeface="Calibri"/>
                <a:cs typeface="Calibri"/>
              </a:rPr>
              <a:t>registros</a:t>
            </a:r>
          </a:p>
          <a:p>
            <a:endParaRPr lang="en-US" sz="1400" b="1">
              <a:solidFill>
                <a:srgbClr val="EAE0D0"/>
              </a:solidFill>
              <a:ea typeface="Calibri"/>
              <a:cs typeface="Calibri"/>
            </a:endParaRPr>
          </a:p>
          <a:p>
            <a:endParaRPr lang="en-US" sz="1400" b="1">
              <a:solidFill>
                <a:srgbClr val="EAE0D0"/>
              </a:solidFill>
              <a:ea typeface="Calibri"/>
              <a:cs typeface="Calibri"/>
            </a:endParaRPr>
          </a:p>
          <a:p>
            <a:r>
              <a:rPr lang="en-US" sz="1400" b="1">
                <a:solidFill>
                  <a:srgbClr val="EAE0D0"/>
                </a:solidFill>
                <a:ea typeface="Calibri"/>
                <a:cs typeface="Calibri"/>
              </a:rPr>
              <a:t>En </a:t>
            </a:r>
            <a:r>
              <a:rPr lang="en-US" sz="1400" b="1" err="1">
                <a:solidFill>
                  <a:srgbClr val="EAE0D0"/>
                </a:solidFill>
                <a:ea typeface="Calibri"/>
                <a:cs typeface="Calibri"/>
              </a:rPr>
              <a:t>el</a:t>
            </a:r>
            <a:r>
              <a:rPr lang="en-US" sz="1400" b="1">
                <a:solidFill>
                  <a:srgbClr val="EAE0D0"/>
                </a:solidFill>
                <a:ea typeface="Calibri"/>
                <a:cs typeface="Calibri"/>
              </a:rPr>
              <a:t> 2026 hay </a:t>
            </a:r>
            <a:r>
              <a:rPr lang="en-US" sz="1400" b="1" err="1">
                <a:solidFill>
                  <a:srgbClr val="EAE0D0"/>
                </a:solidFill>
                <a:ea typeface="Calibri"/>
                <a:cs typeface="Calibri"/>
              </a:rPr>
              <a:t>muy</a:t>
            </a:r>
            <a:r>
              <a:rPr lang="en-US" sz="1400" b="1">
                <a:solidFill>
                  <a:srgbClr val="EAE0D0"/>
                </a:solidFill>
                <a:ea typeface="Calibri"/>
                <a:cs typeface="Calibri"/>
              </a:rPr>
              <a:t> </a:t>
            </a:r>
            <a:r>
              <a:rPr lang="en-US" sz="1400" b="1" err="1">
                <a:solidFill>
                  <a:srgbClr val="EAE0D0"/>
                </a:solidFill>
                <a:ea typeface="Calibri"/>
                <a:cs typeface="Calibri"/>
              </a:rPr>
              <a:t>pocos</a:t>
            </a:r>
            <a:r>
              <a:rPr lang="en-US" sz="1400" b="1">
                <a:solidFill>
                  <a:srgbClr val="EAE0D0"/>
                </a:solidFill>
                <a:ea typeface="Calibri"/>
                <a:cs typeface="Calibri"/>
              </a:rPr>
              <a:t> </a:t>
            </a:r>
            <a:r>
              <a:rPr lang="en-US" sz="1400" b="1" err="1">
                <a:solidFill>
                  <a:srgbClr val="EAE0D0"/>
                </a:solidFill>
                <a:ea typeface="Calibri"/>
                <a:cs typeface="Calibri"/>
              </a:rPr>
              <a:t>registros</a:t>
            </a:r>
            <a:r>
              <a:rPr lang="en-US" sz="1400" b="1">
                <a:solidFill>
                  <a:srgbClr val="EAE0D0"/>
                </a:solidFill>
                <a:ea typeface="Calibri"/>
                <a:cs typeface="Calibri"/>
              </a:rPr>
              <a:t>. </a:t>
            </a:r>
          </a:p>
        </p:txBody>
      </p:sp>
      <p:pic>
        <p:nvPicPr>
          <p:cNvPr id="18" name="Imagen 17" descr="Gráfico, Gráfico de barras&#10;&#10;El contenido generado por IA puede ser incorrecto.">
            <a:extLst>
              <a:ext uri="{FF2B5EF4-FFF2-40B4-BE49-F238E27FC236}">
                <a16:creationId xmlns:a16="http://schemas.microsoft.com/office/drawing/2014/main" id="{6EA2774D-7BE9-EB6B-907D-6AEA2633EE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7612" y="4183919"/>
            <a:ext cx="2988534" cy="235679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>
                <a:solidFill>
                  <a:srgbClr val="C09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BIVARIADO</a:t>
            </a:r>
            <a:endParaRPr lang="en-US" sz="140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243B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fatalidad no está donde más accidentes hay</a:t>
            </a:r>
            <a:endParaRPr lang="en-US" sz="2800"/>
          </a:p>
        </p:txBody>
      </p:sp>
      <p:pic>
        <p:nvPicPr>
          <p:cNvPr id="4" name="Image 0" descr="/home/claude/slides_assets/mapa_colombia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645920"/>
            <a:ext cx="5029200" cy="4572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760720" y="169164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C09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Probabilidad condicional de fatalidad por departamento</a:t>
            </a:r>
            <a:endParaRPr lang="en-US" sz="1300"/>
          </a:p>
        </p:txBody>
      </p:sp>
      <p:sp>
        <p:nvSpPr>
          <p:cNvPr id="6" name="Shape 3"/>
          <p:cNvSpPr/>
          <p:nvPr/>
        </p:nvSpPr>
        <p:spPr>
          <a:xfrm>
            <a:off x="5760720" y="2194560"/>
            <a:ext cx="5943600" cy="384048"/>
          </a:xfrm>
          <a:prstGeom prst="rect">
            <a:avLst/>
          </a:prstGeom>
          <a:solidFill>
            <a:srgbClr val="EAE0D0"/>
          </a:solidFill>
          <a:ln/>
        </p:spPr>
        <p:txBody>
          <a:bodyPr/>
          <a:lstStyle/>
          <a:p>
            <a:endParaRPr lang="es-US"/>
          </a:p>
        </p:txBody>
      </p:sp>
      <p:sp>
        <p:nvSpPr>
          <p:cNvPr id="7" name="Text 4"/>
          <p:cNvSpPr/>
          <p:nvPr/>
        </p:nvSpPr>
        <p:spPr>
          <a:xfrm>
            <a:off x="5852160" y="219456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C099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/>
          </a:p>
        </p:txBody>
      </p:sp>
      <p:sp>
        <p:nvSpPr>
          <p:cNvPr id="8" name="Text 5"/>
          <p:cNvSpPr/>
          <p:nvPr/>
        </p:nvSpPr>
        <p:spPr>
          <a:xfrm>
            <a:off x="6400800" y="219456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43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Guajira</a:t>
            </a:r>
            <a:endParaRPr lang="en-US" sz="1300"/>
          </a:p>
        </p:txBody>
      </p:sp>
      <p:sp>
        <p:nvSpPr>
          <p:cNvPr id="9" name="Text 6"/>
          <p:cNvSpPr/>
          <p:nvPr/>
        </p:nvSpPr>
        <p:spPr>
          <a:xfrm>
            <a:off x="10058400" y="21945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>
                <a:solidFill>
                  <a:srgbClr val="B23A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0,33</a:t>
            </a:r>
            <a:endParaRPr lang="en-US" sz="1400"/>
          </a:p>
        </p:txBody>
      </p:sp>
      <p:sp>
        <p:nvSpPr>
          <p:cNvPr id="10" name="Shape 7"/>
          <p:cNvSpPr/>
          <p:nvPr/>
        </p:nvSpPr>
        <p:spPr>
          <a:xfrm>
            <a:off x="5760720" y="2651760"/>
            <a:ext cx="5943600" cy="38404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s-US"/>
          </a:p>
        </p:txBody>
      </p:sp>
      <p:sp>
        <p:nvSpPr>
          <p:cNvPr id="11" name="Text 8"/>
          <p:cNvSpPr/>
          <p:nvPr/>
        </p:nvSpPr>
        <p:spPr>
          <a:xfrm>
            <a:off x="5852160" y="265176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C099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/>
          </a:p>
        </p:txBody>
      </p:sp>
      <p:sp>
        <p:nvSpPr>
          <p:cNvPr id="12" name="Text 9"/>
          <p:cNvSpPr/>
          <p:nvPr/>
        </p:nvSpPr>
        <p:spPr>
          <a:xfrm>
            <a:off x="6400800" y="265176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43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Cesar</a:t>
            </a:r>
            <a:endParaRPr lang="en-US" sz="1300"/>
          </a:p>
        </p:txBody>
      </p:sp>
      <p:sp>
        <p:nvSpPr>
          <p:cNvPr id="13" name="Text 10"/>
          <p:cNvSpPr/>
          <p:nvPr/>
        </p:nvSpPr>
        <p:spPr>
          <a:xfrm>
            <a:off x="10058400" y="2651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>
                <a:solidFill>
                  <a:srgbClr val="B23A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0,32</a:t>
            </a:r>
            <a:endParaRPr lang="en-US" sz="1400"/>
          </a:p>
        </p:txBody>
      </p:sp>
      <p:sp>
        <p:nvSpPr>
          <p:cNvPr id="14" name="Shape 11"/>
          <p:cNvSpPr/>
          <p:nvPr/>
        </p:nvSpPr>
        <p:spPr>
          <a:xfrm>
            <a:off x="5760720" y="3108960"/>
            <a:ext cx="5943600" cy="38404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s-US"/>
          </a:p>
        </p:txBody>
      </p:sp>
      <p:sp>
        <p:nvSpPr>
          <p:cNvPr id="15" name="Text 12"/>
          <p:cNvSpPr/>
          <p:nvPr/>
        </p:nvSpPr>
        <p:spPr>
          <a:xfrm>
            <a:off x="5852160" y="310896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C099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/>
          </a:p>
        </p:txBody>
      </p:sp>
      <p:sp>
        <p:nvSpPr>
          <p:cNvPr id="16" name="Text 13"/>
          <p:cNvSpPr/>
          <p:nvPr/>
        </p:nvSpPr>
        <p:spPr>
          <a:xfrm>
            <a:off x="6400800" y="310896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43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Putumayo</a:t>
            </a:r>
            <a:endParaRPr lang="en-US" sz="1300"/>
          </a:p>
        </p:txBody>
      </p:sp>
      <p:sp>
        <p:nvSpPr>
          <p:cNvPr id="17" name="Text 14"/>
          <p:cNvSpPr/>
          <p:nvPr/>
        </p:nvSpPr>
        <p:spPr>
          <a:xfrm>
            <a:off x="10058400" y="31089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>
                <a:solidFill>
                  <a:srgbClr val="B23A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0,29</a:t>
            </a:r>
            <a:endParaRPr lang="en-US" sz="1400"/>
          </a:p>
        </p:txBody>
      </p:sp>
      <p:sp>
        <p:nvSpPr>
          <p:cNvPr id="18" name="Shape 15"/>
          <p:cNvSpPr/>
          <p:nvPr/>
        </p:nvSpPr>
        <p:spPr>
          <a:xfrm>
            <a:off x="5760720" y="3566160"/>
            <a:ext cx="5943600" cy="38404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s-US"/>
          </a:p>
        </p:txBody>
      </p:sp>
      <p:sp>
        <p:nvSpPr>
          <p:cNvPr id="19" name="Text 16"/>
          <p:cNvSpPr/>
          <p:nvPr/>
        </p:nvSpPr>
        <p:spPr>
          <a:xfrm>
            <a:off x="5852160" y="356616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C099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/>
          </a:p>
        </p:txBody>
      </p:sp>
      <p:sp>
        <p:nvSpPr>
          <p:cNvPr id="20" name="Text 17"/>
          <p:cNvSpPr/>
          <p:nvPr/>
        </p:nvSpPr>
        <p:spPr>
          <a:xfrm>
            <a:off x="6400800" y="356616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43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Arauca</a:t>
            </a:r>
            <a:endParaRPr lang="en-US" sz="1300"/>
          </a:p>
        </p:txBody>
      </p:sp>
      <p:sp>
        <p:nvSpPr>
          <p:cNvPr id="21" name="Text 18"/>
          <p:cNvSpPr/>
          <p:nvPr/>
        </p:nvSpPr>
        <p:spPr>
          <a:xfrm>
            <a:off x="10058400" y="35661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>
                <a:solidFill>
                  <a:srgbClr val="B23A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0,28</a:t>
            </a:r>
            <a:endParaRPr lang="en-US" sz="1400"/>
          </a:p>
        </p:txBody>
      </p:sp>
      <p:sp>
        <p:nvSpPr>
          <p:cNvPr id="22" name="Shape 19"/>
          <p:cNvSpPr/>
          <p:nvPr/>
        </p:nvSpPr>
        <p:spPr>
          <a:xfrm>
            <a:off x="5760720" y="4023360"/>
            <a:ext cx="5943600" cy="38404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s-US"/>
          </a:p>
        </p:txBody>
      </p:sp>
      <p:sp>
        <p:nvSpPr>
          <p:cNvPr id="23" name="Text 20"/>
          <p:cNvSpPr/>
          <p:nvPr/>
        </p:nvSpPr>
        <p:spPr>
          <a:xfrm>
            <a:off x="5852160" y="402336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C099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/>
          </a:p>
        </p:txBody>
      </p:sp>
      <p:sp>
        <p:nvSpPr>
          <p:cNvPr id="24" name="Text 21"/>
          <p:cNvSpPr/>
          <p:nvPr/>
        </p:nvSpPr>
        <p:spPr>
          <a:xfrm>
            <a:off x="6400800" y="402336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43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Sucre</a:t>
            </a:r>
            <a:endParaRPr lang="en-US" sz="1300"/>
          </a:p>
        </p:txBody>
      </p:sp>
      <p:sp>
        <p:nvSpPr>
          <p:cNvPr id="25" name="Text 22"/>
          <p:cNvSpPr/>
          <p:nvPr/>
        </p:nvSpPr>
        <p:spPr>
          <a:xfrm>
            <a:off x="10058400" y="40233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>
                <a:solidFill>
                  <a:srgbClr val="B23A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0,23</a:t>
            </a:r>
            <a:endParaRPr lang="en-US" sz="1400"/>
          </a:p>
        </p:txBody>
      </p:sp>
      <p:sp>
        <p:nvSpPr>
          <p:cNvPr id="26" name="Shape 23"/>
          <p:cNvSpPr/>
          <p:nvPr/>
        </p:nvSpPr>
        <p:spPr>
          <a:xfrm>
            <a:off x="5760720" y="4663440"/>
            <a:ext cx="5943600" cy="1371600"/>
          </a:xfrm>
          <a:prstGeom prst="rect">
            <a:avLst/>
          </a:prstGeom>
          <a:solidFill>
            <a:srgbClr val="243B5E"/>
          </a:solidFill>
          <a:ln/>
        </p:spPr>
        <p:txBody>
          <a:bodyPr/>
          <a:lstStyle/>
          <a:p>
            <a:endParaRPr lang="es-US"/>
          </a:p>
        </p:txBody>
      </p:sp>
      <p:sp>
        <p:nvSpPr>
          <p:cNvPr id="27" name="Text 24"/>
          <p:cNvSpPr/>
          <p:nvPr/>
        </p:nvSpPr>
        <p:spPr>
          <a:xfrm>
            <a:off x="5943600" y="480060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>
                <a:solidFill>
                  <a:srgbClr val="C09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ANTIOQUIA</a:t>
            </a:r>
            <a:endParaRPr lang="en-US" sz="1100"/>
          </a:p>
        </p:txBody>
      </p:sp>
      <p:sp>
        <p:nvSpPr>
          <p:cNvPr id="28" name="Text 25"/>
          <p:cNvSpPr/>
          <p:nvPr/>
        </p:nvSpPr>
        <p:spPr>
          <a:xfrm>
            <a:off x="5943600" y="5120640"/>
            <a:ext cx="5577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EAE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 el </a:t>
            </a: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r>
              <a:rPr lang="en-US" sz="1200">
                <a:solidFill>
                  <a:srgbClr val="EAE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los accidentes del país, pero su probabilidad condicional de fatalidad es de apenas </a:t>
            </a: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0,02</a:t>
            </a:r>
            <a:r>
              <a:rPr lang="en-US" sz="1200">
                <a:solidFill>
                  <a:srgbClr val="EAE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/>
          </a:p>
        </p:txBody>
      </p:sp>
      <p:sp>
        <p:nvSpPr>
          <p:cNvPr id="29" name="Text 26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900"/>
          </a:p>
        </p:txBody>
      </p:sp>
      <p:sp>
        <p:nvSpPr>
          <p:cNvPr id="30" name="Text 27"/>
          <p:cNvSpPr/>
          <p:nvPr/>
        </p:nvSpPr>
        <p:spPr>
          <a:xfrm>
            <a:off x="457200" y="6537960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Determinantes de fatalidad vial · IA con Aplicaciones en Economía I</a:t>
            </a:r>
            <a:endParaRPr lang="en-US" sz="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>
                <a:solidFill>
                  <a:srgbClr val="C09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</a:t>
            </a:r>
            <a:endParaRPr lang="en-US" sz="140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243B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Clasificación binaria supervisada: cuatro modelos comparados</a:t>
            </a:r>
            <a:endParaRPr lang="en-US" sz="260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49240" cy="15544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s-US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91440" cy="1554480"/>
          </a:xfrm>
          <a:prstGeom prst="rect">
            <a:avLst/>
          </a:prstGeom>
          <a:solidFill>
            <a:srgbClr val="243B5E"/>
          </a:solidFill>
          <a:ln/>
        </p:spPr>
        <p:txBody>
          <a:bodyPr/>
          <a:lstStyle/>
          <a:p>
            <a:endParaRPr lang="es-US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243B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Regresión Logística</a:t>
            </a:r>
            <a:endParaRPr lang="en-US" sz="1700"/>
          </a:p>
        </p:txBody>
      </p:sp>
      <p:sp>
        <p:nvSpPr>
          <p:cNvPr id="7" name="Text 5"/>
          <p:cNvSpPr/>
          <p:nvPr/>
        </p:nvSpPr>
        <p:spPr>
          <a:xfrm>
            <a:off x="822960" y="251460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Referente paramétrico con coeficientes interpretables</a:t>
            </a:r>
            <a:endParaRPr lang="en-US" sz="1200"/>
          </a:p>
        </p:txBody>
      </p:sp>
      <p:sp>
        <p:nvSpPr>
          <p:cNvPr id="8" name="Shape 6"/>
          <p:cNvSpPr/>
          <p:nvPr/>
        </p:nvSpPr>
        <p:spPr>
          <a:xfrm>
            <a:off x="6263640" y="1828800"/>
            <a:ext cx="5349240" cy="15544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s-US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91440" cy="1554480"/>
          </a:xfrm>
          <a:prstGeom prst="rect">
            <a:avLst/>
          </a:prstGeom>
          <a:solidFill>
            <a:srgbClr val="243B5E"/>
          </a:solidFill>
          <a:ln/>
        </p:spPr>
        <p:txBody>
          <a:bodyPr/>
          <a:lstStyle/>
          <a:p>
            <a:endParaRPr lang="es-US"/>
          </a:p>
        </p:txBody>
      </p:sp>
      <p:sp>
        <p:nvSpPr>
          <p:cNvPr id="10" name="Text 8"/>
          <p:cNvSpPr/>
          <p:nvPr/>
        </p:nvSpPr>
        <p:spPr>
          <a:xfrm>
            <a:off x="6537960" y="20116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243B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Árbol de Decisión</a:t>
            </a:r>
            <a:endParaRPr lang="en-US" sz="1700"/>
          </a:p>
        </p:txBody>
      </p:sp>
      <p:sp>
        <p:nvSpPr>
          <p:cNvPr id="11" name="Text 9"/>
          <p:cNvSpPr/>
          <p:nvPr/>
        </p:nvSpPr>
        <p:spPr>
          <a:xfrm>
            <a:off x="6537960" y="251460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Puente entre enfoques paramétricos y métodos de ensamble</a:t>
            </a:r>
            <a:endParaRPr lang="en-US" sz="1200"/>
          </a:p>
        </p:txBody>
      </p:sp>
      <p:sp>
        <p:nvSpPr>
          <p:cNvPr id="12" name="Shape 10"/>
          <p:cNvSpPr/>
          <p:nvPr/>
        </p:nvSpPr>
        <p:spPr>
          <a:xfrm>
            <a:off x="548640" y="3566160"/>
            <a:ext cx="5349240" cy="15544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s-US"/>
          </a:p>
        </p:txBody>
      </p:sp>
      <p:sp>
        <p:nvSpPr>
          <p:cNvPr id="13" name="Shape 11"/>
          <p:cNvSpPr/>
          <p:nvPr/>
        </p:nvSpPr>
        <p:spPr>
          <a:xfrm>
            <a:off x="548640" y="3566160"/>
            <a:ext cx="91440" cy="1554480"/>
          </a:xfrm>
          <a:prstGeom prst="rect">
            <a:avLst/>
          </a:prstGeom>
          <a:solidFill>
            <a:srgbClr val="243B5E"/>
          </a:solidFill>
          <a:ln/>
        </p:spPr>
        <p:txBody>
          <a:bodyPr/>
          <a:lstStyle/>
          <a:p>
            <a:endParaRPr lang="es-US"/>
          </a:p>
        </p:txBody>
      </p:sp>
      <p:sp>
        <p:nvSpPr>
          <p:cNvPr id="14" name="Text 12"/>
          <p:cNvSpPr/>
          <p:nvPr/>
        </p:nvSpPr>
        <p:spPr>
          <a:xfrm>
            <a:off x="822960" y="37490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243B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XGBoost</a:t>
            </a:r>
            <a:endParaRPr lang="en-US" sz="1700"/>
          </a:p>
        </p:txBody>
      </p:sp>
      <p:sp>
        <p:nvSpPr>
          <p:cNvPr id="15" name="Text 13"/>
          <p:cNvSpPr/>
          <p:nvPr/>
        </p:nvSpPr>
        <p:spPr>
          <a:xfrm>
            <a:off x="822960" y="42519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Ensamble por boosting, robusto en datos tabulares</a:t>
            </a:r>
            <a:endParaRPr lang="en-US" sz="1200"/>
          </a:p>
        </p:txBody>
      </p:sp>
      <p:sp>
        <p:nvSpPr>
          <p:cNvPr id="16" name="Shape 14"/>
          <p:cNvSpPr/>
          <p:nvPr/>
        </p:nvSpPr>
        <p:spPr>
          <a:xfrm>
            <a:off x="6263640" y="3566160"/>
            <a:ext cx="5349240" cy="1554480"/>
          </a:xfrm>
          <a:prstGeom prst="rect">
            <a:avLst/>
          </a:prstGeom>
          <a:solidFill>
            <a:srgbClr val="243B5E"/>
          </a:solidFill>
          <a:ln/>
        </p:spPr>
        <p:txBody>
          <a:bodyPr/>
          <a:lstStyle/>
          <a:p>
            <a:endParaRPr lang="es-US"/>
          </a:p>
        </p:txBody>
      </p:sp>
      <p:sp>
        <p:nvSpPr>
          <p:cNvPr id="17" name="Shape 15"/>
          <p:cNvSpPr/>
          <p:nvPr/>
        </p:nvSpPr>
        <p:spPr>
          <a:xfrm>
            <a:off x="6263640" y="3566160"/>
            <a:ext cx="91440" cy="1554480"/>
          </a:xfrm>
          <a:prstGeom prst="rect">
            <a:avLst/>
          </a:prstGeom>
          <a:solidFill>
            <a:srgbClr val="C0995A"/>
          </a:solidFill>
          <a:ln/>
        </p:spPr>
        <p:txBody>
          <a:bodyPr/>
          <a:lstStyle/>
          <a:p>
            <a:endParaRPr lang="es-US"/>
          </a:p>
        </p:txBody>
      </p:sp>
      <p:sp>
        <p:nvSpPr>
          <p:cNvPr id="18" name="Text 16"/>
          <p:cNvSpPr/>
          <p:nvPr/>
        </p:nvSpPr>
        <p:spPr>
          <a:xfrm>
            <a:off x="6537960" y="37490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Gradient Boosting ★</a:t>
            </a:r>
            <a:endParaRPr lang="en-US" sz="1700"/>
          </a:p>
        </p:txBody>
      </p:sp>
      <p:sp>
        <p:nvSpPr>
          <p:cNvPr id="19" name="Text 17"/>
          <p:cNvSpPr/>
          <p:nvPr/>
        </p:nvSpPr>
        <p:spPr>
          <a:xfrm>
            <a:off x="6537960" y="42519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EAE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final: aprendizaje iterativo con mejor manejo de variables categóricas de alta dimensionalidad</a:t>
            </a:r>
            <a:endParaRPr lang="en-US" sz="1200"/>
          </a:p>
        </p:txBody>
      </p:sp>
      <p:sp>
        <p:nvSpPr>
          <p:cNvPr id="20" name="Shape 18"/>
          <p:cNvSpPr/>
          <p:nvPr/>
        </p:nvSpPr>
        <p:spPr>
          <a:xfrm>
            <a:off x="548640" y="5349240"/>
            <a:ext cx="11064240" cy="960120"/>
          </a:xfrm>
          <a:prstGeom prst="rect">
            <a:avLst/>
          </a:prstGeom>
          <a:solidFill>
            <a:srgbClr val="EAE0D0"/>
          </a:solidFill>
          <a:ln/>
        </p:spPr>
        <p:txBody>
          <a:bodyPr/>
          <a:lstStyle/>
          <a:p>
            <a:endParaRPr lang="es-US"/>
          </a:p>
        </p:txBody>
      </p:sp>
      <p:sp>
        <p:nvSpPr>
          <p:cNvPr id="21" name="Text 19"/>
          <p:cNvSpPr/>
          <p:nvPr/>
        </p:nvSpPr>
        <p:spPr>
          <a:xfrm>
            <a:off x="731520" y="544068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>
                <a:solidFill>
                  <a:srgbClr val="243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EVALUACIÓN</a:t>
            </a:r>
            <a:endParaRPr lang="en-US" sz="1100"/>
          </a:p>
        </p:txBody>
      </p:sp>
      <p:sp>
        <p:nvSpPr>
          <p:cNvPr id="22" name="Text 20"/>
          <p:cNvSpPr/>
          <p:nvPr/>
        </p:nvSpPr>
        <p:spPr>
          <a:xfrm>
            <a:off x="731520" y="57607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43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División 80/20  </a:t>
            </a: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estratificada  ·  </a:t>
            </a:r>
            <a:r>
              <a:rPr lang="en-US" sz="1100" b="1">
                <a:solidFill>
                  <a:srgbClr val="243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Submuestreo  </a:t>
            </a: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corregir desbalance 95/5  ·  </a:t>
            </a:r>
            <a:r>
              <a:rPr lang="en-US" sz="1100" b="1">
                <a:solidFill>
                  <a:srgbClr val="243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 5-fold + GridSearch  </a:t>
            </a: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Métricas: Accuracy, Precision, Recall, F1, ROC-AUC</a:t>
            </a:r>
            <a:endParaRPr lang="en-US" sz="1100"/>
          </a:p>
        </p:txBody>
      </p:sp>
      <p:sp>
        <p:nvSpPr>
          <p:cNvPr id="23" name="Text 21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90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Determinantes de fatalidad vial · IA con Aplicaciones en Economía I</a:t>
            </a:r>
            <a:endParaRPr lang="en-US" sz="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>
                <a:solidFill>
                  <a:srgbClr val="C09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40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243B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Gradient Boosting fue el mejor modelo en todas las métricas</a:t>
            </a:r>
            <a:endParaRPr lang="en-US" sz="260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0672418"/>
              </p:ext>
            </p:extLst>
          </p:nvPr>
        </p:nvGraphicFramePr>
        <p:xfrm>
          <a:off x="548640" y="1783080"/>
          <a:ext cx="11064240" cy="2468880"/>
        </p:xfrm>
        <a:graphic>
          <a:graphicData uri="http://schemas.openxmlformats.org/drawingml/2006/table">
            <a:tbl>
              <a:tblPr/>
              <a:tblGrid>
                <a:gridCol w="2606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Regresión Logística</a:t>
                      </a:r>
                      <a:endParaRPr lang="en-US" sz="1300" err="1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0,706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0,723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0,668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0,694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Árbol de Decisión</a:t>
                      </a:r>
                      <a:endParaRPr lang="en-US" sz="1300" err="1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0,700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0,7100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0,689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0,700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0,768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XGBoost</a:t>
                      </a:r>
                      <a:endParaRPr lang="en-US" sz="1300" err="1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0,706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0,717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0,681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0,699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>
                          <a:solidFill>
                            <a:srgbClr val="243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 ★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0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>
                          <a:solidFill>
                            <a:srgbClr val="243B5E"/>
                          </a:solidFill>
                          <a:latin typeface="Calibri"/>
                          <a:ea typeface="Calibri"/>
                          <a:cs typeface="Calibri"/>
                        </a:rPr>
                        <a:t>0,74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0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>
                          <a:solidFill>
                            <a:srgbClr val="243B5E"/>
                          </a:solidFill>
                          <a:latin typeface="Calibri"/>
                          <a:ea typeface="Calibri"/>
                          <a:cs typeface="Calibri"/>
                        </a:rPr>
                        <a:t>0,74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0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>
                          <a:solidFill>
                            <a:srgbClr val="243B5E"/>
                          </a:solidFill>
                          <a:latin typeface="Calibri"/>
                          <a:ea typeface="Calibri"/>
                          <a:cs typeface="Calibri"/>
                        </a:rPr>
                        <a:t>0,74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0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>
                          <a:solidFill>
                            <a:srgbClr val="243B5E"/>
                          </a:solidFill>
                          <a:latin typeface="Calibri"/>
                          <a:ea typeface="Calibri"/>
                          <a:cs typeface="Calibri"/>
                        </a:rPr>
                        <a:t>0,74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0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>
                          <a:solidFill>
                            <a:srgbClr val="243B5E"/>
                          </a:solidFill>
                          <a:latin typeface="Calibri"/>
                          <a:ea typeface="Calibri"/>
                          <a:cs typeface="Calibri"/>
                        </a:rPr>
                        <a:t>0,8225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572000"/>
            <a:ext cx="5440680" cy="1737360"/>
          </a:xfrm>
          <a:prstGeom prst="rect">
            <a:avLst/>
          </a:prstGeom>
          <a:solidFill>
            <a:srgbClr val="243B5E"/>
          </a:solidFill>
          <a:ln/>
        </p:spPr>
        <p:txBody>
          <a:bodyPr/>
          <a:lstStyle/>
          <a:p>
            <a:endParaRPr lang="es-US"/>
          </a:p>
        </p:txBody>
      </p:sp>
      <p:sp>
        <p:nvSpPr>
          <p:cNvPr id="6" name="Text 3"/>
          <p:cNvSpPr/>
          <p:nvPr/>
        </p:nvSpPr>
        <p:spPr>
          <a:xfrm>
            <a:off x="777240" y="47091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>
                <a:solidFill>
                  <a:srgbClr val="C09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100"/>
          </a:p>
        </p:txBody>
      </p:sp>
      <p:sp>
        <p:nvSpPr>
          <p:cNvPr id="7" name="Text 4"/>
          <p:cNvSpPr/>
          <p:nvPr/>
        </p:nvSpPr>
        <p:spPr>
          <a:xfrm>
            <a:off x="777240" y="4983480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0,823</a:t>
            </a:r>
            <a:endParaRPr lang="en-US" sz="5600"/>
          </a:p>
        </p:txBody>
      </p:sp>
      <p:sp>
        <p:nvSpPr>
          <p:cNvPr id="8" name="Text 5"/>
          <p:cNvSpPr/>
          <p:nvPr/>
        </p:nvSpPr>
        <p:spPr>
          <a:xfrm>
            <a:off x="777240" y="58521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EAE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 de discriminación sustancialmente superior al azar (0,5)</a:t>
            </a:r>
            <a:endParaRPr lang="en-US" sz="1100"/>
          </a:p>
        </p:txBody>
      </p:sp>
      <p:sp>
        <p:nvSpPr>
          <p:cNvPr id="9" name="Shape 6"/>
          <p:cNvSpPr/>
          <p:nvPr/>
        </p:nvSpPr>
        <p:spPr>
          <a:xfrm>
            <a:off x="6172200" y="4572000"/>
            <a:ext cx="5440680" cy="1737360"/>
          </a:xfrm>
          <a:prstGeom prst="rect">
            <a:avLst/>
          </a:prstGeom>
          <a:solidFill>
            <a:srgbClr val="C0995A"/>
          </a:solidFill>
          <a:ln/>
        </p:spPr>
        <p:txBody>
          <a:bodyPr/>
          <a:lstStyle/>
          <a:p>
            <a:endParaRPr lang="es-US"/>
          </a:p>
        </p:txBody>
      </p:sp>
      <p:sp>
        <p:nvSpPr>
          <p:cNvPr id="10" name="Text 7"/>
          <p:cNvSpPr/>
          <p:nvPr/>
        </p:nvSpPr>
        <p:spPr>
          <a:xfrm>
            <a:off x="6400800" y="47091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100"/>
          </a:p>
        </p:txBody>
      </p:sp>
      <p:sp>
        <p:nvSpPr>
          <p:cNvPr id="4" name="Text 8"/>
          <p:cNvSpPr/>
          <p:nvPr/>
        </p:nvSpPr>
        <p:spPr>
          <a:xfrm>
            <a:off x="6400800" y="4983480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0,742</a:t>
            </a:r>
            <a:endParaRPr lang="en-US" sz="5600"/>
          </a:p>
        </p:txBody>
      </p:sp>
      <p:sp>
        <p:nvSpPr>
          <p:cNvPr id="12" name="Text 9"/>
          <p:cNvSpPr/>
          <p:nvPr/>
        </p:nvSpPr>
        <p:spPr>
          <a:xfrm>
            <a:off x="6400800" y="58521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Equilibrio entre precisión y recall, clave por el alto costo de los falsos negativos</a:t>
            </a:r>
            <a:endParaRPr lang="en-US" sz="1100"/>
          </a:p>
        </p:txBody>
      </p:sp>
      <p:sp>
        <p:nvSpPr>
          <p:cNvPr id="13" name="Text 10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900"/>
          </a:p>
        </p:txBody>
      </p:sp>
      <p:sp>
        <p:nvSpPr>
          <p:cNvPr id="14" name="Text 11"/>
          <p:cNvSpPr/>
          <p:nvPr/>
        </p:nvSpPr>
        <p:spPr>
          <a:xfrm>
            <a:off x="457200" y="6537960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Determinantes de fatalidad vial · IA con Aplicaciones en Economía I</a:t>
            </a:r>
            <a:endParaRPr lang="en-US" sz="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>
                <a:solidFill>
                  <a:srgbClr val="C09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40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243B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modelo prefiere alertar de más que de menos</a:t>
            </a:r>
            <a:endParaRPr lang="en-US" sz="2600"/>
          </a:p>
        </p:txBody>
      </p:sp>
      <p:sp>
        <p:nvSpPr>
          <p:cNvPr id="6" name="Text 2"/>
          <p:cNvSpPr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00" i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De 4.091 </a:t>
            </a:r>
            <a:r>
              <a:rPr lang="en-US" sz="1100" i="1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accidentes</a:t>
            </a:r>
            <a:r>
              <a:rPr lang="en-US" sz="1100" i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fatales </a:t>
            </a:r>
            <a:r>
              <a:rPr lang="en-US" sz="1100" i="1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en</a:t>
            </a:r>
            <a:r>
              <a:rPr lang="en-US" sz="1100" i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00" i="1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el</a:t>
            </a:r>
            <a:r>
              <a:rPr lang="en-US" sz="1100" i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test, </a:t>
            </a:r>
            <a:r>
              <a:rPr lang="en-US" sz="1100" i="1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el</a:t>
            </a:r>
            <a:r>
              <a:rPr lang="en-US" sz="1100" i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00" i="1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modelo</a:t>
            </a:r>
            <a:r>
              <a:rPr lang="en-US" sz="1100" i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00" i="1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identificó</a:t>
            </a:r>
            <a:r>
              <a:rPr lang="en-US" sz="1100" i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3.033 </a:t>
            </a:r>
            <a:r>
              <a:rPr lang="en-US" sz="1100" i="1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correctamente</a:t>
            </a:r>
            <a:r>
              <a:rPr lang="en-US" sz="1100" i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(recall 75%). </a:t>
            </a:r>
            <a:r>
              <a:rPr lang="en-US" sz="1100" i="1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Falló</a:t>
            </a:r>
            <a:r>
              <a:rPr lang="en-US" sz="1100" i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00" i="1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en</a:t>
            </a:r>
            <a:r>
              <a:rPr lang="en-US" sz="1100" i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1.058 </a:t>
            </a:r>
            <a:r>
              <a:rPr lang="en-US" sz="1100" i="1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casos</a:t>
            </a:r>
            <a:r>
              <a:rPr lang="en-US" sz="1100" i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. Esta </a:t>
            </a:r>
            <a:r>
              <a:rPr lang="en-US" sz="1100" i="1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asimetría</a:t>
            </a:r>
            <a:r>
              <a:rPr lang="en-US" sz="1100" i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es </a:t>
            </a:r>
            <a:r>
              <a:rPr lang="en-US" sz="1100" i="1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deseable</a:t>
            </a:r>
            <a:r>
              <a:rPr lang="en-US" sz="1100" i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: </a:t>
            </a:r>
            <a:r>
              <a:rPr lang="en-US" sz="1100" i="1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el</a:t>
            </a:r>
            <a:r>
              <a:rPr lang="en-US" sz="1100" i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00" i="1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costo</a:t>
            </a:r>
            <a:r>
              <a:rPr lang="en-US" sz="1100" i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social de un </a:t>
            </a:r>
            <a:r>
              <a:rPr lang="en-US" sz="1100" i="1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falso</a:t>
            </a:r>
            <a:r>
              <a:rPr lang="en-US" sz="1100" i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00" i="1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negativo</a:t>
            </a:r>
            <a:r>
              <a:rPr lang="en-US" sz="1100" i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(</a:t>
            </a:r>
            <a:r>
              <a:rPr lang="en-US" sz="1100" i="1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accidente</a:t>
            </a:r>
            <a:r>
              <a:rPr lang="en-US" sz="1100" i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fatal no </a:t>
            </a:r>
            <a:r>
              <a:rPr lang="en-US" sz="1100" i="1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anticipado</a:t>
            </a:r>
            <a:r>
              <a:rPr lang="en-US" sz="1100" i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) es mayor </a:t>
            </a:r>
            <a:r>
              <a:rPr lang="en-US" sz="1100" i="1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que</a:t>
            </a:r>
            <a:r>
              <a:rPr lang="en-US" sz="1100" i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00" i="1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el</a:t>
            </a:r>
            <a:r>
              <a:rPr lang="en-US" sz="1100" i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de un </a:t>
            </a:r>
            <a:r>
              <a:rPr lang="en-US" sz="1100" i="1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falso</a:t>
            </a:r>
            <a:r>
              <a:rPr lang="en-US" sz="1100" i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00" i="1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positivo</a:t>
            </a:r>
            <a:r>
              <a:rPr lang="en-US" sz="1100" i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.</a:t>
            </a:r>
            <a:endParaRPr lang="es-ES">
              <a:latin typeface="Calibri"/>
              <a:ea typeface="Calibri"/>
              <a:cs typeface="Calibri"/>
            </a:endParaRPr>
          </a:p>
        </p:txBody>
      </p:sp>
      <p:sp>
        <p:nvSpPr>
          <p:cNvPr id="7" name="Text 3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900"/>
          </a:p>
        </p:txBody>
      </p:sp>
      <p:sp>
        <p:nvSpPr>
          <p:cNvPr id="8" name="Text 4"/>
          <p:cNvSpPr/>
          <p:nvPr/>
        </p:nvSpPr>
        <p:spPr>
          <a:xfrm>
            <a:off x="457200" y="6537960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Determinantes de fatalidad vial · IA con Aplicaciones en Economía I</a:t>
            </a:r>
            <a:endParaRPr lang="en-US" sz="900"/>
          </a:p>
        </p:txBody>
      </p:sp>
      <p:pic>
        <p:nvPicPr>
          <p:cNvPr id="4" name="Imagen 3" descr="Gráfico, Gráfico de rectángulos&#10;&#10;El contenido generado por IA puede ser incorrecto.">
            <a:extLst>
              <a:ext uri="{FF2B5EF4-FFF2-40B4-BE49-F238E27FC236}">
                <a16:creationId xmlns:a16="http://schemas.microsoft.com/office/drawing/2014/main" id="{3154A58C-B9DB-3C54-358B-3F97E33542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2868" y="1715272"/>
            <a:ext cx="4348807" cy="368488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43B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>
                <a:solidFill>
                  <a:srgbClr val="C09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INTERPRETACIÓN ECONÓMICA</a:t>
            </a:r>
            <a:endParaRPr lang="en-US" sz="140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endParaRPr lang="en-US" sz="2600" b="1">
              <a:solidFill>
                <a:srgbClr val="FFFFFF"/>
              </a:solidFill>
              <a:latin typeface="Georgia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913130"/>
            <a:ext cx="5394960" cy="43891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US"/>
          </a:p>
        </p:txBody>
      </p:sp>
      <p:sp>
        <p:nvSpPr>
          <p:cNvPr id="5" name="Text 3"/>
          <p:cNvSpPr/>
          <p:nvPr/>
        </p:nvSpPr>
        <p:spPr>
          <a:xfrm>
            <a:off x="777240" y="102489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>
                <a:solidFill>
                  <a:srgbClr val="C09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HALLAZGOS CLAVE</a:t>
            </a:r>
            <a:endParaRPr lang="en-US" sz="1100"/>
          </a:p>
        </p:txBody>
      </p:sp>
      <p:sp>
        <p:nvSpPr>
          <p:cNvPr id="6" name="Text 4"/>
          <p:cNvSpPr/>
          <p:nvPr/>
        </p:nvSpPr>
        <p:spPr>
          <a:xfrm>
            <a:off x="777240" y="13030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243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El factor territorial domina</a:t>
            </a:r>
            <a:endParaRPr lang="en-US" sz="1400"/>
          </a:p>
        </p:txBody>
      </p:sp>
      <p:sp>
        <p:nvSpPr>
          <p:cNvPr id="7" name="Text 5"/>
          <p:cNvSpPr/>
          <p:nvPr/>
        </p:nvSpPr>
        <p:spPr>
          <a:xfrm>
            <a:off x="777240" y="1668780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Cesar, La Guajira, Arauca y Magdalena concentran el mayor riesgo. La fatalidad se concentra donde la infraestructura institucional es débil.</a:t>
            </a:r>
            <a:endParaRPr lang="en-US" sz="1200"/>
          </a:p>
        </p:txBody>
      </p:sp>
      <p:sp>
        <p:nvSpPr>
          <p:cNvPr id="8" name="Text 6"/>
          <p:cNvSpPr/>
          <p:nvPr/>
        </p:nvSpPr>
        <p:spPr>
          <a:xfrm>
            <a:off x="777240" y="21767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243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La masa pesa más que la cantidad</a:t>
            </a:r>
            <a:endParaRPr lang="en-US" sz="1400"/>
          </a:p>
        </p:txBody>
      </p:sp>
      <p:sp>
        <p:nvSpPr>
          <p:cNvPr id="9" name="Text 7"/>
          <p:cNvSpPr/>
          <p:nvPr/>
        </p:nvSpPr>
        <p:spPr>
          <a:xfrm>
            <a:off x="777240" y="2561590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Tractocamiones, remolques, camiones y volquetas son los más letales pese a representar menos del 5% del parque. Las motos abundan, pero no son las más fatales por accidente.</a:t>
            </a:r>
            <a:endParaRPr lang="en-US" sz="1200"/>
          </a:p>
        </p:txBody>
      </p:sp>
      <p:sp>
        <p:nvSpPr>
          <p:cNvPr id="10" name="Text 8"/>
          <p:cNvSpPr/>
          <p:nvPr/>
        </p:nvSpPr>
        <p:spPr>
          <a:xfrm>
            <a:off x="777240" y="342519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243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Estacionalidad oculta</a:t>
            </a:r>
            <a:endParaRPr lang="en-US" sz="1400"/>
          </a:p>
        </p:txBody>
      </p:sp>
      <p:sp>
        <p:nvSpPr>
          <p:cNvPr id="11" name="Text 9"/>
          <p:cNvSpPr/>
          <p:nvPr/>
        </p:nvSpPr>
        <p:spPr>
          <a:xfrm>
            <a:off x="777240" y="3829050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Julio tiene más accidentes (vacaciones), pero diciembre y enero tienen mayor letalidad relativa.</a:t>
            </a:r>
            <a:endParaRPr lang="en-US" sz="1200"/>
          </a:p>
        </p:txBody>
      </p:sp>
      <p:sp>
        <p:nvSpPr>
          <p:cNvPr id="12" name="Shape 10"/>
          <p:cNvSpPr/>
          <p:nvPr/>
        </p:nvSpPr>
        <p:spPr>
          <a:xfrm>
            <a:off x="6197600" y="913130"/>
            <a:ext cx="5440680" cy="4389120"/>
          </a:xfrm>
          <a:prstGeom prst="rect">
            <a:avLst/>
          </a:prstGeom>
          <a:solidFill>
            <a:srgbClr val="C0995A"/>
          </a:solidFill>
          <a:ln/>
        </p:spPr>
        <p:txBody>
          <a:bodyPr/>
          <a:lstStyle/>
          <a:p>
            <a:endParaRPr lang="es-US"/>
          </a:p>
        </p:txBody>
      </p:sp>
      <p:sp>
        <p:nvSpPr>
          <p:cNvPr id="13" name="Text 11"/>
          <p:cNvSpPr/>
          <p:nvPr/>
        </p:nvSpPr>
        <p:spPr>
          <a:xfrm>
            <a:off x="6400800" y="10058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>
                <a:solidFill>
                  <a:srgbClr val="243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 DE MÁXIMO RIESGO PREDICHO</a:t>
            </a:r>
            <a:endParaRPr lang="en-US" sz="1100"/>
          </a:p>
        </p:txBody>
      </p:sp>
      <p:sp>
        <p:nvSpPr>
          <p:cNvPr id="14" name="Text 12"/>
          <p:cNvSpPr/>
          <p:nvPr/>
        </p:nvSpPr>
        <p:spPr>
          <a:xfrm>
            <a:off x="6400800" y="134747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93,81%</a:t>
            </a:r>
            <a:endParaRPr lang="en-US" sz="8800"/>
          </a:p>
        </p:txBody>
      </p:sp>
      <p:sp>
        <p:nvSpPr>
          <p:cNvPr id="15" name="Text 13"/>
          <p:cNvSpPr/>
          <p:nvPr/>
        </p:nvSpPr>
        <p:spPr>
          <a:xfrm>
            <a:off x="6400800" y="28168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>
                <a:solidFill>
                  <a:srgbClr val="243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probabilidad de fatalidad</a:t>
            </a:r>
            <a:endParaRPr lang="en-US" sz="1400"/>
          </a:p>
        </p:txBody>
      </p:sp>
      <p:sp>
        <p:nvSpPr>
          <p:cNvPr id="16" name="Shape 14"/>
          <p:cNvSpPr/>
          <p:nvPr/>
        </p:nvSpPr>
        <p:spPr>
          <a:xfrm>
            <a:off x="6400800" y="4297680"/>
            <a:ext cx="502920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17" name="Text 15"/>
          <p:cNvSpPr/>
          <p:nvPr/>
        </p:nvSpPr>
        <p:spPr>
          <a:xfrm>
            <a:off x="6400800" y="3177540"/>
            <a:ext cx="50292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>
                <a:solidFill>
                  <a:srgbClr val="243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TRACTOCAMIÓN SHACMAN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243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años de antigüedad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243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Caucasia, Antioquia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243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Diciembre 2025</a:t>
            </a:r>
            <a:endParaRPr lang="en-US" sz="1300"/>
          </a:p>
        </p:txBody>
      </p:sp>
      <p:sp>
        <p:nvSpPr>
          <p:cNvPr id="18" name="Text 16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90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Determinantes de fatalidad vial · IA con Aplicaciones en Economía I</a:t>
            </a:r>
            <a:endParaRPr lang="en-US" sz="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Gráfico&#10;&#10;El contenido generado por IA puede ser incorrecto.">
            <a:extLst>
              <a:ext uri="{FF2B5EF4-FFF2-40B4-BE49-F238E27FC236}">
                <a16:creationId xmlns:a16="http://schemas.microsoft.com/office/drawing/2014/main" id="{BA1DB89D-5F18-0720-E402-662D1119B7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3" y="201969"/>
            <a:ext cx="4016431" cy="2912286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3B4FF89-C45F-4E24-B963-61E855708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23671" y="0"/>
            <a:ext cx="73152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n 2" descr="Texto&#10;&#10;El contenido generado por IA puede ser incorrecto.">
            <a:extLst>
              <a:ext uri="{FF2B5EF4-FFF2-40B4-BE49-F238E27FC236}">
                <a16:creationId xmlns:a16="http://schemas.microsoft.com/office/drawing/2014/main" id="{DDBEF69F-9625-8ECA-4F6A-E9B703DDC8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2109" y="4316616"/>
            <a:ext cx="3401568" cy="1683776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14F25C03-EF67-4344-8AEA-7B3FA0DED0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07836" y="0"/>
            <a:ext cx="73152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53A7E65-D242-FA98-48A1-87808D1FCF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124" y="3776626"/>
            <a:ext cx="2628488" cy="275234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F74793DE-3651-410B-B243-8F0B1468E6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059424" y="-2665476"/>
            <a:ext cx="73152" cy="1218895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en 6" descr="Imagen que contiene Mapa&#10;&#10;El contenido generado por IA puede ser incorrecto.">
            <a:extLst>
              <a:ext uri="{FF2B5EF4-FFF2-40B4-BE49-F238E27FC236}">
                <a16:creationId xmlns:a16="http://schemas.microsoft.com/office/drawing/2014/main" id="{538C30B9-8A5A-72E3-A129-EDEC34E439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9308" y="3473310"/>
            <a:ext cx="3979418" cy="3282573"/>
          </a:xfrm>
          <a:prstGeom prst="rect">
            <a:avLst/>
          </a:prstGeom>
        </p:spPr>
      </p:pic>
      <p:pic>
        <p:nvPicPr>
          <p:cNvPr id="2" name="Imagen 1" descr="Gráfico, Gráfico de barras&#10;&#10;El contenido generado por IA puede ser incorrecto.">
            <a:extLst>
              <a:ext uri="{FF2B5EF4-FFF2-40B4-BE49-F238E27FC236}">
                <a16:creationId xmlns:a16="http://schemas.microsoft.com/office/drawing/2014/main" id="{F6217BC1-B28B-CE4C-27F4-C4ED9DC79D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83843" y="234990"/>
            <a:ext cx="4004818" cy="2642036"/>
          </a:xfrm>
          <a:prstGeom prst="rect">
            <a:avLst/>
          </a:prstGeom>
        </p:spPr>
      </p:pic>
      <p:pic>
        <p:nvPicPr>
          <p:cNvPr id="6" name="Imagen 5" descr="Gráfico, Gráfico de barras&#10;&#10;El contenido generado por IA puede ser incorrecto.">
            <a:extLst>
              <a:ext uri="{FF2B5EF4-FFF2-40B4-BE49-F238E27FC236}">
                <a16:creationId xmlns:a16="http://schemas.microsoft.com/office/drawing/2014/main" id="{668D33F7-F480-BA25-AFD2-E645792029A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33250" y="196887"/>
            <a:ext cx="3966718" cy="2893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7737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>
                <a:solidFill>
                  <a:srgbClr val="C09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RECOMENDACIONES Y LIMITACIONES</a:t>
            </a:r>
            <a:endParaRPr lang="en-US" sz="140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243B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los datos a la política pública</a:t>
            </a:r>
            <a:endParaRPr lang="en-US" sz="280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243B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Recomendaciones accionables</a:t>
            </a:r>
            <a:endParaRPr lang="en-US" sz="160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394960" cy="10972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s-US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C099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/>
          </a:p>
        </p:txBody>
      </p:sp>
      <p:sp>
        <p:nvSpPr>
          <p:cNvPr id="7" name="Text 5"/>
          <p:cNvSpPr/>
          <p:nvPr/>
        </p:nvSpPr>
        <p:spPr>
          <a:xfrm>
            <a:off x="1463040" y="24231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243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Focalización territorial</a:t>
            </a:r>
            <a:endParaRPr lang="en-US" sz="1400"/>
          </a:p>
        </p:txBody>
      </p:sp>
      <p:sp>
        <p:nvSpPr>
          <p:cNvPr id="8" name="Text 6"/>
          <p:cNvSpPr/>
          <p:nvPr/>
        </p:nvSpPr>
        <p:spPr>
          <a:xfrm>
            <a:off x="1463040" y="2788920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Invertir en infraestructura hospitalaria, vial y tiempos de respuesta de emergencias en La Guajira, Cesar, Arauca y Magdalena.</a:t>
            </a:r>
            <a:endParaRPr lang="en-US" sz="1100"/>
          </a:p>
        </p:txBody>
      </p:sp>
      <p:sp>
        <p:nvSpPr>
          <p:cNvPr id="9" name="Shape 7"/>
          <p:cNvSpPr/>
          <p:nvPr/>
        </p:nvSpPr>
        <p:spPr>
          <a:xfrm>
            <a:off x="548640" y="3520440"/>
            <a:ext cx="5394960" cy="10972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s-US"/>
          </a:p>
        </p:txBody>
      </p:sp>
      <p:sp>
        <p:nvSpPr>
          <p:cNvPr id="10" name="Text 8"/>
          <p:cNvSpPr/>
          <p:nvPr/>
        </p:nvSpPr>
        <p:spPr>
          <a:xfrm>
            <a:off x="640080" y="361188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C099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/>
          </a:p>
        </p:txBody>
      </p:sp>
      <p:sp>
        <p:nvSpPr>
          <p:cNvPr id="11" name="Text 9"/>
          <p:cNvSpPr/>
          <p:nvPr/>
        </p:nvSpPr>
        <p:spPr>
          <a:xfrm>
            <a:off x="1463040" y="36576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243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sobre el parque pesado</a:t>
            </a:r>
            <a:endParaRPr lang="en-US" sz="1400"/>
          </a:p>
        </p:txBody>
      </p:sp>
      <p:sp>
        <p:nvSpPr>
          <p:cNvPr id="12" name="Text 10"/>
          <p:cNvSpPr/>
          <p:nvPr/>
        </p:nvSpPr>
        <p:spPr>
          <a:xfrm>
            <a:off x="1463040" y="4023360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Reforzar revisión técnico-mecánica, mantenimiento y control de velocidad en tractocamiones, camiones y volquetas.</a:t>
            </a:r>
            <a:endParaRPr lang="en-US" sz="1100"/>
          </a:p>
        </p:txBody>
      </p:sp>
      <p:sp>
        <p:nvSpPr>
          <p:cNvPr id="13" name="Shape 11"/>
          <p:cNvSpPr/>
          <p:nvPr/>
        </p:nvSpPr>
        <p:spPr>
          <a:xfrm>
            <a:off x="548640" y="4754880"/>
            <a:ext cx="5394960" cy="10972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s-US"/>
          </a:p>
        </p:txBody>
      </p:sp>
      <p:sp>
        <p:nvSpPr>
          <p:cNvPr id="14" name="Text 12"/>
          <p:cNvSpPr/>
          <p:nvPr/>
        </p:nvSpPr>
        <p:spPr>
          <a:xfrm>
            <a:off x="640080" y="484632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C099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/>
          </a:p>
        </p:txBody>
      </p:sp>
      <p:sp>
        <p:nvSpPr>
          <p:cNvPr id="15" name="Text 13"/>
          <p:cNvSpPr/>
          <p:nvPr/>
        </p:nvSpPr>
        <p:spPr>
          <a:xfrm>
            <a:off x="1463040" y="48920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243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Refuerzo estacional</a:t>
            </a:r>
            <a:endParaRPr lang="en-US" sz="1400"/>
          </a:p>
        </p:txBody>
      </p:sp>
      <p:sp>
        <p:nvSpPr>
          <p:cNvPr id="16" name="Text 14"/>
          <p:cNvSpPr/>
          <p:nvPr/>
        </p:nvSpPr>
        <p:spPr>
          <a:xfrm>
            <a:off x="1463040" y="5257800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Intensificar campañas y operativos durante diciembre y enero, los meses de mayor letalidad relativa.</a:t>
            </a:r>
            <a:endParaRPr lang="en-US" sz="1100"/>
          </a:p>
        </p:txBody>
      </p:sp>
      <p:sp>
        <p:nvSpPr>
          <p:cNvPr id="17" name="Text 15"/>
          <p:cNvSpPr/>
          <p:nvPr/>
        </p:nvSpPr>
        <p:spPr>
          <a:xfrm>
            <a:off x="6263640" y="1783080"/>
            <a:ext cx="5486400" cy="411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600" b="1" err="1">
                <a:solidFill>
                  <a:srgbClr val="243B5E"/>
                </a:solidFill>
                <a:latin typeface="Georgia"/>
                <a:ea typeface="Georgia" pitchFamily="34" charset="-122"/>
                <a:cs typeface="Georgia" pitchFamily="34" charset="-120"/>
              </a:rPr>
              <a:t>Oportunidades</a:t>
            </a:r>
            <a:r>
              <a:rPr lang="en-US" sz="1600" b="1">
                <a:solidFill>
                  <a:srgbClr val="243B5E"/>
                </a:solidFill>
                <a:latin typeface="Georgia"/>
                <a:ea typeface="Georgia" pitchFamily="34" charset="-122"/>
                <a:cs typeface="Georgia" pitchFamily="34" charset="-120"/>
              </a:rPr>
              <a:t> de </a:t>
            </a:r>
            <a:r>
              <a:rPr lang="en-US" sz="1600" b="1" err="1">
                <a:solidFill>
                  <a:srgbClr val="243B5E"/>
                </a:solidFill>
                <a:latin typeface="Georgia"/>
                <a:ea typeface="Georgia" pitchFamily="34" charset="-122"/>
                <a:cs typeface="Georgia" pitchFamily="34" charset="-120"/>
              </a:rPr>
              <a:t>trabajo</a:t>
            </a:r>
            <a:r>
              <a:rPr lang="en-US" sz="1600" b="1">
                <a:solidFill>
                  <a:srgbClr val="243B5E"/>
                </a:solidFill>
                <a:latin typeface="Georgia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600" b="1" err="1">
                <a:solidFill>
                  <a:srgbClr val="243B5E"/>
                </a:solidFill>
                <a:latin typeface="Georgia"/>
                <a:ea typeface="Georgia" pitchFamily="34" charset="-122"/>
                <a:cs typeface="Georgia" pitchFamily="34" charset="-120"/>
              </a:rPr>
              <a:t>futuro</a:t>
            </a:r>
            <a:endParaRPr lang="en-US" sz="1600" err="1">
              <a:latin typeface="Georgia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263640" y="2286000"/>
            <a:ext cx="5440680" cy="3703320"/>
          </a:xfrm>
          <a:prstGeom prst="rect">
            <a:avLst/>
          </a:prstGeom>
          <a:solidFill>
            <a:srgbClr val="243B5E"/>
          </a:solidFill>
          <a:ln/>
        </p:spPr>
        <p:txBody>
          <a:bodyPr/>
          <a:lstStyle/>
          <a:p>
            <a:endParaRPr lang="es-US"/>
          </a:p>
        </p:txBody>
      </p:sp>
      <p:sp>
        <p:nvSpPr>
          <p:cNvPr id="19" name="Shape 17"/>
          <p:cNvSpPr/>
          <p:nvPr/>
        </p:nvSpPr>
        <p:spPr>
          <a:xfrm>
            <a:off x="6446520" y="2468880"/>
            <a:ext cx="73152" cy="1005840"/>
          </a:xfrm>
          <a:prstGeom prst="rect">
            <a:avLst/>
          </a:prstGeom>
          <a:solidFill>
            <a:srgbClr val="C0995A"/>
          </a:solidFill>
          <a:ln/>
        </p:spPr>
        <p:txBody>
          <a:bodyPr/>
          <a:lstStyle/>
          <a:p>
            <a:endParaRPr lang="es-US"/>
          </a:p>
        </p:txBody>
      </p:sp>
      <p:sp>
        <p:nvSpPr>
          <p:cNvPr id="20" name="Text 18"/>
          <p:cNvSpPr/>
          <p:nvPr/>
        </p:nvSpPr>
        <p:spPr>
          <a:xfrm>
            <a:off x="6629400" y="24688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C09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Sesgo de selección</a:t>
            </a:r>
            <a:endParaRPr lang="en-US" sz="1300"/>
          </a:p>
        </p:txBody>
      </p:sp>
      <p:sp>
        <p:nvSpPr>
          <p:cNvPr id="21" name="Text 19"/>
          <p:cNvSpPr/>
          <p:nvPr/>
        </p:nvSpPr>
        <p:spPr>
          <a:xfrm>
            <a:off x="6629400" y="2816352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EAE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base incluye solo accidentes con víctimas, lo que restringe el análisis a probabilidad condicional, no poblacional.</a:t>
            </a:r>
            <a:endParaRPr lang="en-US" sz="1100"/>
          </a:p>
        </p:txBody>
      </p:sp>
      <p:sp>
        <p:nvSpPr>
          <p:cNvPr id="22" name="Shape 20"/>
          <p:cNvSpPr/>
          <p:nvPr/>
        </p:nvSpPr>
        <p:spPr>
          <a:xfrm>
            <a:off x="6446520" y="3657600"/>
            <a:ext cx="73152" cy="1005840"/>
          </a:xfrm>
          <a:prstGeom prst="rect">
            <a:avLst/>
          </a:prstGeom>
          <a:solidFill>
            <a:srgbClr val="C0995A"/>
          </a:solidFill>
          <a:ln/>
        </p:spPr>
        <p:txBody>
          <a:bodyPr/>
          <a:lstStyle/>
          <a:p>
            <a:endParaRPr lang="es-US"/>
          </a:p>
        </p:txBody>
      </p:sp>
      <p:sp>
        <p:nvSpPr>
          <p:cNvPr id="23" name="Text 21"/>
          <p:cNvSpPr/>
          <p:nvPr/>
        </p:nvSpPr>
        <p:spPr>
          <a:xfrm>
            <a:off x="6629400" y="36576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C09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no observadas</a:t>
            </a:r>
            <a:endParaRPr lang="en-US" sz="1300"/>
          </a:p>
        </p:txBody>
      </p:sp>
      <p:sp>
        <p:nvSpPr>
          <p:cNvPr id="24" name="Text 22"/>
          <p:cNvSpPr/>
          <p:nvPr/>
        </p:nvSpPr>
        <p:spPr>
          <a:xfrm>
            <a:off x="6629400" y="4005072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EAE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no incorpora velocidad, consumo de alcohol, estado real de la vía ni datos socioeconómicos del conductor.</a:t>
            </a:r>
            <a:endParaRPr lang="en-US" sz="1100"/>
          </a:p>
        </p:txBody>
      </p:sp>
      <p:sp>
        <p:nvSpPr>
          <p:cNvPr id="25" name="Shape 23"/>
          <p:cNvSpPr/>
          <p:nvPr/>
        </p:nvSpPr>
        <p:spPr>
          <a:xfrm>
            <a:off x="6446520" y="4846320"/>
            <a:ext cx="73152" cy="1005840"/>
          </a:xfrm>
          <a:prstGeom prst="rect">
            <a:avLst/>
          </a:prstGeom>
          <a:solidFill>
            <a:srgbClr val="C0995A"/>
          </a:solidFill>
          <a:ln/>
        </p:spPr>
        <p:txBody>
          <a:bodyPr/>
          <a:lstStyle/>
          <a:p>
            <a:endParaRPr lang="es-US"/>
          </a:p>
        </p:txBody>
      </p:sp>
      <p:sp>
        <p:nvSpPr>
          <p:cNvPr id="26" name="Text 24"/>
          <p:cNvSpPr/>
          <p:nvPr/>
        </p:nvSpPr>
        <p:spPr>
          <a:xfrm>
            <a:off x="6629400" y="48463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C09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temporal parcial</a:t>
            </a:r>
            <a:endParaRPr lang="en-US" sz="1300"/>
          </a:p>
        </p:txBody>
      </p:sp>
      <p:sp>
        <p:nvSpPr>
          <p:cNvPr id="27" name="Text 25"/>
          <p:cNvSpPr/>
          <p:nvPr/>
        </p:nvSpPr>
        <p:spPr>
          <a:xfrm>
            <a:off x="6629400" y="5193792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EAE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registros más recientes corresponden a abril de 2026, lo que puede subestimar tendencias actuales.</a:t>
            </a:r>
            <a:endParaRPr lang="en-US" sz="1100"/>
          </a:p>
        </p:txBody>
      </p:sp>
      <p:sp>
        <p:nvSpPr>
          <p:cNvPr id="28" name="Text 26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13</a:t>
            </a:r>
            <a:endParaRPr lang="en-US" sz="90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Determinantes de fatalidad vial · IA con Aplicaciones en Economía I</a:t>
            </a:r>
            <a:endParaRPr lang="en-US" sz="9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43B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6400800" cy="6400800"/>
          </a:xfrm>
          <a:prstGeom prst="ellipse">
            <a:avLst/>
          </a:prstGeom>
          <a:solidFill>
            <a:srgbClr val="3D5680"/>
          </a:solidFill>
          <a:ln/>
        </p:spPr>
        <p:txBody>
          <a:bodyPr/>
          <a:lstStyle/>
          <a:p>
            <a:endParaRPr lang="es-US"/>
          </a:p>
        </p:txBody>
      </p:sp>
      <p:sp>
        <p:nvSpPr>
          <p:cNvPr id="3" name="Shape 1"/>
          <p:cNvSpPr/>
          <p:nvPr/>
        </p:nvSpPr>
        <p:spPr>
          <a:xfrm>
            <a:off x="9144000" y="3657600"/>
            <a:ext cx="6400800" cy="6400800"/>
          </a:xfrm>
          <a:prstGeom prst="ellipse">
            <a:avLst/>
          </a:prstGeom>
          <a:solidFill>
            <a:srgbClr val="C0995A">
              <a:alpha val="20000"/>
            </a:srgbClr>
          </a:solidFill>
          <a:ln/>
        </p:spPr>
        <p:txBody>
          <a:bodyPr/>
          <a:lstStyle/>
          <a:p>
            <a:endParaRPr lang="es-US"/>
          </a:p>
        </p:txBody>
      </p:sp>
      <p:sp>
        <p:nvSpPr>
          <p:cNvPr id="4" name="Shape 2"/>
          <p:cNvSpPr/>
          <p:nvPr/>
        </p:nvSpPr>
        <p:spPr>
          <a:xfrm>
            <a:off x="-914400" y="4572000"/>
            <a:ext cx="3657600" cy="3657600"/>
          </a:xfrm>
          <a:prstGeom prst="ellipse">
            <a:avLst/>
          </a:prstGeom>
          <a:solidFill>
            <a:srgbClr val="EAE0D0">
              <a:alpha val="15000"/>
            </a:srgbClr>
          </a:solidFill>
          <a:ln/>
        </p:spPr>
        <p:txBody>
          <a:bodyPr/>
          <a:lstStyle/>
          <a:p>
            <a:endParaRPr lang="es-US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400" b="1" kern="0" spc="80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GRACIAS</a:t>
            </a:r>
            <a:endParaRPr lang="en-US" sz="8400"/>
          </a:p>
        </p:txBody>
      </p:sp>
      <p:sp>
        <p:nvSpPr>
          <p:cNvPr id="6" name="Shape 4"/>
          <p:cNvSpPr/>
          <p:nvPr/>
        </p:nvSpPr>
        <p:spPr>
          <a:xfrm>
            <a:off x="5166360" y="3520440"/>
            <a:ext cx="1828800" cy="0"/>
          </a:xfrm>
          <a:prstGeom prst="line">
            <a:avLst/>
          </a:prstGeom>
          <a:noFill/>
          <a:ln w="25400">
            <a:solidFill>
              <a:srgbClr val="C0995A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Juan Esteban Barrantes  ·  Juan Camilo Ordoñez  ·  Miguel Andrés Rodríguez</a:t>
            </a:r>
            <a:endParaRPr lang="en-US" sz="1300"/>
          </a:p>
        </p:txBody>
      </p:sp>
      <p:sp>
        <p:nvSpPr>
          <p:cNvPr id="9" name="Text 7"/>
          <p:cNvSpPr/>
          <p:nvPr/>
        </p:nvSpPr>
        <p:spPr>
          <a:xfrm>
            <a:off x="914400" y="608076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>
                <a:solidFill>
                  <a:srgbClr val="EAE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Externado de Colombia · 2026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Panorámica</PresentationFormat>
  <Slides>14</Slides>
  <Notes>13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5" baseType="lpstr"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Determinantes de la fatalidad en accidentes de tránsito en Colombia</dc:title>
  <dc:subject>PptxGenJS Presentation</dc:subject>
  <dc:creator>Barrantes, Ordoñez, Rodríguez</dc:creator>
  <cp:revision>2</cp:revision>
  <dcterms:created xsi:type="dcterms:W3CDTF">2026-05-20T18:51:16Z</dcterms:created>
  <dcterms:modified xsi:type="dcterms:W3CDTF">2026-05-23T03:07:39Z</dcterms:modified>
</cp:coreProperties>
</file>